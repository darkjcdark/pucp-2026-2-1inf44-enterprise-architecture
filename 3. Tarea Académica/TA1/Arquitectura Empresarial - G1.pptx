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uce" charset="1" panose="00000500000000000000"/>
      <p:regular r:id="rId25"/>
    </p:embeddedFont>
    <p:embeddedFont>
      <p:font typeface="Open Sauce Bold" charset="1" panose="00000800000000000000"/>
      <p:regular r:id="rId26"/>
    </p:embeddedFont>
    <p:embeddedFont>
      <p:font typeface="Open Sauce Italics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Buenos días. Somos el Grupo 1 y analizamos el proceso de Planificación de Demanda y Compras del caso Almacenes NOVA. En esta presentación mostramos el avance parcial: quién es NOVA y dónde está su brecha, el proceso que elegimos con su flujograma, los tres problemas y las tres nuevas necesidades que identificamos, el mapa de capacidades y la arquitectura actual por capas. Todo esto es la base para la propuesta TO-BE de la siguiente entrega.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NOVA es una cadena de retail fundada en 1982. Hoy tiene 145 tiendas en tres países, más de 12,000 colaboradores y vende 850 millones de dólares al año. Su negocio se reparte entre electrónica y hogar, moda, consumo masivo y moda infantil. Atiende a tres segmentos: familias tradicionales que compran en tienda, jóvenes digitales que compran por web y app, y pequeños comerciantes. El dato clave es que en cuatro años las ventas digitales pasaron de 4% a 22%, pero la operación no se preparó para ese crecimiento.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plan NOVA 2028 busca duplicar la valoración del negocio y convertir a NOVA en una plataforma omnicanal líder. Pero al cierre de 2025 todos los indicadores están lejos de la meta. Resaltamos tres que se relacionan con nuestro proceso: el quiebre de stock digital está en 14.5% cuando la meta es menos de 2%, se cancela el 8.2% de los pedidos digitales y solo el 68% de los pedidos llega a tiempo y completo. Si no se compra lo que el cliente digital pide, estos tres indicadores no van a mejorar.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Bajo la Gerencia General hay cinco direcciones. La Dirección Comercial es la dueña del proceso: de ella dependen el Analista de Planificación, que hace SP1 y SP2, y el Jefe de Categoría, que negocia, da de alta productos nuevos y emite la orden de compra. Finanzas también forma parte del proceso: su analista de cuentas por pagar recibe y registra la factura del proveedor en SP7. Operaciones recibe la mercancía en el Proceso 2 y TI da soporte al ERP. Canales Digitales no participa, y justamente por eso sus ventas no llegan al pronóstico.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mapa tiene tres niveles. Arriba los procesos estratégicos, como el plan NOVA 2028 y la aprobación de inversiones. Al centro los seis procesos core, en el mismo orden y con las mismas relaciones del Flujo Operativo Integrado del caso. Abajo los de soporte; resaltamos TI y Finanzas porque se relacionan con nuestro proceso. El Proceso 1 es el primer eslabón: alimenta a Recepción e Inventarios y a Catálogo. Si compra mal, el error se arrastra hasta la cancelación del pedido, como en el escenario Falso Stock del caso.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Nuestro proceso es Planificación de Demanda y Compras. Su objetivo es que la mercancía correcta esté disponible en el CD y en las tiendas. Recibe como entradas el histórico de ventas del ERP, la estacionalidad, el catálogo de productos y las condiciones con proveedores. Participan cuatro actores, uno de ellos externo: el proveedor. Las salidas son la orden de compra en estado Pendiente de Recepción, que dispara el Proceso 2, y la provisión contable del pago. Abajo están las reglas de negocio que sintetizamos del caso, cada una ligada a su paso.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es el flujograma AS-IS en BPMN, con cuatro carriles para los roles internos y un pool aparte para el proveedor. El proceso inicia cada mes: el analista extrae el histórico y arma el pronóstico en Excel. El Jefe de Categoría negocia con el proveedor y gestiona la aprobación por correo. Si el producto es nuevo, primero lo da de alta en el ERP. Luego emite la OC, el proveedor la confirma por correo, despacha y envía su factura, que Finanzas registra. El proceso termina cuando la OC queda Pendiente de Recepción.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Identificamos tres problemas. El primero es de TI y de datos: el pronóstico solo usa ventas físicas de hace 30 días, así que no ve el canal digital; esto explica el quiebre de stock digital de 14.5%. El segundo es de negocio: las aprobaciones y la confirmación del proveedor van por correo y emitir una orden de compra puede tardar hasta 10 días. El tercero es de datos maestros: el SKU del ERP no coincide con los códigos de barra de algunos proveedores y más del 60% de los campos críticos están vacíos.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Frente a esos problemas, encontramos tres prácticas que el sector ya está usando. Demand sensing ajusta el pronóstico todos los días con señales de todos los canales; en el piloto de Unilever redujo el error de pronóstico en 25%. CPFR es planificar el reabastecimiento junto con los proveedores; los minoristas que lo aplicaron redujeron su inventario entre 10% y 40%. Y PIM centraliza la información de cada producto en un solo lugar; reduce en promedio 29% el tiempo de lanzamiento. Cada una responde a uno de los problemas y a pasos concretos del proceso.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mapa de capacidades lo construimos con un modelo propio a partir de los seis procesos del caso. Tiene cuatro capacidades core de nivel 1, cada una con tres de nivel 2, y las evaluamos con un mapa de calor: ocho son críticas y cuatro débiles. Nuestro proceso usa dos capacidades. Planificación de Demanda, en SP1 y SP2, es crítica porque es el origen del quiebre de stock digital. Gestión de Compras y Proveedores, de SP3 a SP7, es débil: las compras salen, pero tarde y por correo.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 la capa de negocio agrupamos los siete pasos en cinco etapas de valor. Las dos primeras corresponden a la capacidad de Planificación de Demanda y las tres siguientes a Gestión de Compras y Proveedores. Cada etapa entrega algo concreto a la siguiente: el histórico, el pronóstico, la compra aprobada, la OC confirmada y finalmente la OC lista para recepción. Hoy el valor se pierde en tres puntos: el pronóstico sin canal digital, las aprobaciones por correo que demoran hasta 10 días y los códigos de producto que no coinciden.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Esta es la arquitectura AS-IS por capas. Cada columna es un paso, de SP1 a SP7, y cada fila una capa: roles, front-office, integración, back-office, datos e infraestructura. Abajo están los pains y las aspiraciones de cada paso. Lo que más se repite es la ausencia de integración: no hay APIs con proveedores, el pronóstico vive en archivos locales y el alta del SKU se copia a mano al e-commerce. Las aspiraciones responden a los problemas y nuevas necesidades que vimos antes.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Resumimos lo que muestra cada capa. En aplicaciones, el proceso se apoya en el ERP, Excel y el correo, sin integración ni servicios expuestos. En datos, el histórico solo es físico, el pronóstico está en PCs personales, los códigos de producto no coinciden y más del 60% de los campos críticos están vacíos. En infraestructura, el ERP corre en servidores cerca del fin de su vida útil, la nube y el centro de datos solo se comunican por lotes nocturnos, y el 75% del presupuesto de TI se va en mantener lo que ya existe.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cerrar, tres ideas. La brecha principal del proceso está en planificar: el pronóstico no ve las ventas digitales, que ya son el 22% del total. Las compras dependen del correo y pueden tardar hasta 10 días. Y sin datos maestros confiables, ninguna mejora va a escalar. En la siguiente entrega vamos a proponer la arquitectura TO-BE a partir de las tres nuevas necesidades: demand sensing, planificación colaborativa con proveedores y gestión de información de productos.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Muchas gracias, quedamos atentos a sus preguntas.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8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8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8.pn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8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8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0.png" Type="http://schemas.openxmlformats.org/officeDocument/2006/relationships/image"/><Relationship Id="rId7" Target="../media/image24.jpe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6.jpeg" Type="http://schemas.openxmlformats.org/officeDocument/2006/relationships/image"/><Relationship Id="rId4" Target="../media/image17.jpeg" Type="http://schemas.openxmlformats.org/officeDocument/2006/relationships/image"/><Relationship Id="rId5" Target="../media/image27.jpeg" Type="http://schemas.openxmlformats.org/officeDocument/2006/relationships/image"/><Relationship Id="rId6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35143"/>
            <a:ext cx="3887581" cy="5523157"/>
            <a:chOff x="0" y="0"/>
            <a:chExt cx="5183442" cy="7364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3505" cy="7364222"/>
            </a:xfrm>
            <a:custGeom>
              <a:avLst/>
              <a:gdLst/>
              <a:ahLst/>
              <a:cxnLst/>
              <a:rect r="r" b="b" t="t" l="l"/>
              <a:pathLst>
                <a:path h="7364222" w="5183505">
                  <a:moveTo>
                    <a:pt x="394208" y="0"/>
                  </a:moveTo>
                  <a:lnTo>
                    <a:pt x="4789297" y="0"/>
                  </a:lnTo>
                  <a:cubicBezTo>
                    <a:pt x="4893818" y="0"/>
                    <a:pt x="4994148" y="41529"/>
                    <a:pt x="5068062" y="115443"/>
                  </a:cubicBezTo>
                  <a:cubicBezTo>
                    <a:pt x="5141976" y="189357"/>
                    <a:pt x="5183505" y="289687"/>
                    <a:pt x="5183505" y="394208"/>
                  </a:cubicBezTo>
                  <a:lnTo>
                    <a:pt x="5183505" y="6970014"/>
                  </a:lnTo>
                  <a:cubicBezTo>
                    <a:pt x="5183505" y="7074535"/>
                    <a:pt x="5141976" y="7174865"/>
                    <a:pt x="5068062" y="7248779"/>
                  </a:cubicBezTo>
                  <a:cubicBezTo>
                    <a:pt x="4994148" y="7322693"/>
                    <a:pt x="4893818" y="7364222"/>
                    <a:pt x="4789297" y="7364222"/>
                  </a:cubicBezTo>
                  <a:lnTo>
                    <a:pt x="394208" y="7364222"/>
                  </a:lnTo>
                  <a:cubicBezTo>
                    <a:pt x="289687" y="7364222"/>
                    <a:pt x="189357" y="7322693"/>
                    <a:pt x="115443" y="7248779"/>
                  </a:cubicBezTo>
                  <a:cubicBezTo>
                    <a:pt x="41529" y="7174865"/>
                    <a:pt x="0" y="7074535"/>
                    <a:pt x="0" y="6970014"/>
                  </a:cubicBezTo>
                  <a:lnTo>
                    <a:pt x="0" y="394208"/>
                  </a:lnTo>
                  <a:cubicBezTo>
                    <a:pt x="0" y="289687"/>
                    <a:pt x="41529" y="189357"/>
                    <a:pt x="115443" y="115443"/>
                  </a:cubicBezTo>
                  <a:cubicBezTo>
                    <a:pt x="189357" y="41529"/>
                    <a:pt x="289687" y="0"/>
                    <a:pt x="39420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790" r="1" b="-27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56419" y="935269"/>
            <a:ext cx="3887581" cy="5098371"/>
            <a:chOff x="0" y="0"/>
            <a:chExt cx="5183442" cy="67978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83505" cy="6797802"/>
            </a:xfrm>
            <a:custGeom>
              <a:avLst/>
              <a:gdLst/>
              <a:ahLst/>
              <a:cxnLst/>
              <a:rect r="r" b="b" t="t" l="l"/>
              <a:pathLst>
                <a:path h="6797802" w="5183505">
                  <a:moveTo>
                    <a:pt x="394208" y="0"/>
                  </a:moveTo>
                  <a:lnTo>
                    <a:pt x="4789297" y="0"/>
                  </a:lnTo>
                  <a:cubicBezTo>
                    <a:pt x="4893818" y="0"/>
                    <a:pt x="4994148" y="41529"/>
                    <a:pt x="5068062" y="115443"/>
                  </a:cubicBezTo>
                  <a:cubicBezTo>
                    <a:pt x="5141976" y="189357"/>
                    <a:pt x="5183505" y="289687"/>
                    <a:pt x="5183505" y="394208"/>
                  </a:cubicBezTo>
                  <a:lnTo>
                    <a:pt x="5183505" y="6403594"/>
                  </a:lnTo>
                  <a:cubicBezTo>
                    <a:pt x="5183505" y="6508115"/>
                    <a:pt x="5141976" y="6608445"/>
                    <a:pt x="5068062" y="6682359"/>
                  </a:cubicBezTo>
                  <a:cubicBezTo>
                    <a:pt x="4994148" y="6756273"/>
                    <a:pt x="4893818" y="6797802"/>
                    <a:pt x="4789297" y="6797802"/>
                  </a:cubicBezTo>
                  <a:lnTo>
                    <a:pt x="394208" y="6797802"/>
                  </a:lnTo>
                  <a:cubicBezTo>
                    <a:pt x="289687" y="6797802"/>
                    <a:pt x="189357" y="6756273"/>
                    <a:pt x="115443" y="6682359"/>
                  </a:cubicBezTo>
                  <a:cubicBezTo>
                    <a:pt x="41529" y="6608445"/>
                    <a:pt x="0" y="6508242"/>
                    <a:pt x="0" y="6403594"/>
                  </a:cubicBezTo>
                  <a:lnTo>
                    <a:pt x="0" y="394208"/>
                  </a:lnTo>
                  <a:cubicBezTo>
                    <a:pt x="0" y="289687"/>
                    <a:pt x="41529" y="189357"/>
                    <a:pt x="115443" y="115443"/>
                  </a:cubicBezTo>
                  <a:cubicBezTo>
                    <a:pt x="189357" y="41529"/>
                    <a:pt x="289687" y="0"/>
                    <a:pt x="394208" y="0"/>
                  </a:cubicBezTo>
                  <a:close/>
                </a:path>
              </a:pathLst>
            </a:custGeom>
            <a:blipFill>
              <a:blip r:embed="rId4"/>
              <a:stretch>
                <a:fillRect l="-60635" t="0" r="-60634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789860" y="8787879"/>
            <a:ext cx="470421" cy="470421"/>
          </a:xfrm>
          <a:custGeom>
            <a:avLst/>
            <a:gdLst/>
            <a:ahLst/>
            <a:cxnLst/>
            <a:rect r="r" b="b" t="t" l="l"/>
            <a:pathLst>
              <a:path h="470421" w="470421">
                <a:moveTo>
                  <a:pt x="0" y="0"/>
                </a:moveTo>
                <a:lnTo>
                  <a:pt x="470421" y="0"/>
                </a:lnTo>
                <a:lnTo>
                  <a:pt x="470421" y="470421"/>
                </a:lnTo>
                <a:lnTo>
                  <a:pt x="0" y="470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62142" y="4549864"/>
            <a:ext cx="1562929" cy="593636"/>
          </a:xfrm>
          <a:custGeom>
            <a:avLst/>
            <a:gdLst/>
            <a:ahLst/>
            <a:cxnLst/>
            <a:rect r="r" b="b" t="t" l="l"/>
            <a:pathLst>
              <a:path h="593636" w="1562929">
                <a:moveTo>
                  <a:pt x="0" y="0"/>
                </a:moveTo>
                <a:lnTo>
                  <a:pt x="1562929" y="0"/>
                </a:lnTo>
                <a:lnTo>
                  <a:pt x="1562929" y="593636"/>
                </a:lnTo>
                <a:lnTo>
                  <a:pt x="0" y="593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33094" y="1477737"/>
            <a:ext cx="1454629" cy="1661427"/>
            <a:chOff x="0" y="0"/>
            <a:chExt cx="1939506" cy="2215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9544" cy="2215261"/>
            </a:xfrm>
            <a:custGeom>
              <a:avLst/>
              <a:gdLst/>
              <a:ahLst/>
              <a:cxnLst/>
              <a:rect r="r" b="b" t="t" l="l"/>
              <a:pathLst>
                <a:path h="2215261" w="1939544">
                  <a:moveTo>
                    <a:pt x="0" y="0"/>
                  </a:moveTo>
                  <a:lnTo>
                    <a:pt x="1939544" y="0"/>
                  </a:lnTo>
                  <a:lnTo>
                    <a:pt x="1939544" y="2215261"/>
                  </a:lnTo>
                  <a:lnTo>
                    <a:pt x="0" y="2215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5" r="1" b="-10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65100" y="2431875"/>
            <a:ext cx="7610456" cy="3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3999" spc="-278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1INF44 - Arquitectura Empresarial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97956" y="2261606"/>
            <a:ext cx="1958388" cy="36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7"/>
              </a:lnSpc>
            </a:pPr>
            <a:r>
              <a:rPr lang="en-US" b="true" sz="4149" spc="-12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PUCP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44789" y="5661431"/>
            <a:ext cx="5607748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96">
                <a:solidFill>
                  <a:srgbClr val="73737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Proceso de Planificación de Demanda y Compras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44789" y="3433277"/>
            <a:ext cx="6498822" cy="227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9"/>
              </a:lnSpc>
            </a:pPr>
            <a:r>
              <a:rPr lang="en-US" sz="9999" spc="-69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Almacenes </a:t>
            </a:r>
          </a:p>
          <a:p>
            <a:pPr algn="l">
              <a:lnSpc>
                <a:spcPts val="8599"/>
              </a:lnSpc>
            </a:pPr>
            <a:r>
              <a:rPr lang="en-US" sz="9999" i="true" spc="-699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Nova S.A.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80444" y="6592929"/>
            <a:ext cx="560774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96">
                <a:solidFill>
                  <a:srgbClr val="73737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Grupo 1 · Horario 0981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57800" y="6967728"/>
            <a:ext cx="4224528" cy="2395728"/>
            <a:chOff x="0" y="0"/>
            <a:chExt cx="5632704" cy="31943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32704" cy="3194304"/>
            </a:xfrm>
            <a:custGeom>
              <a:avLst/>
              <a:gdLst/>
              <a:ahLst/>
              <a:cxnLst/>
              <a:rect r="r" b="b" t="t" l="l"/>
              <a:pathLst>
                <a:path h="3194304" w="563270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5242560" y="0"/>
                  </a:lnTo>
                  <a:cubicBezTo>
                    <a:pt x="5458079" y="0"/>
                    <a:pt x="5632704" y="174625"/>
                    <a:pt x="5632704" y="390144"/>
                  </a:cubicBezTo>
                  <a:lnTo>
                    <a:pt x="5632704" y="2804160"/>
                  </a:lnTo>
                  <a:cubicBezTo>
                    <a:pt x="5632704" y="3019679"/>
                    <a:pt x="5458079" y="3194304"/>
                    <a:pt x="5242560" y="3194304"/>
                  </a:cubicBezTo>
                  <a:lnTo>
                    <a:pt x="390144" y="3194304"/>
                  </a:lnTo>
                  <a:cubicBezTo>
                    <a:pt x="174625" y="3194304"/>
                    <a:pt x="0" y="3019679"/>
                    <a:pt x="0" y="280416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532120" y="7178040"/>
            <a:ext cx="37490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2120" y="7589520"/>
            <a:ext cx="393192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Alvites Galarza, Lucas Mattias</a:t>
            </a:r>
          </a:p>
          <a:p>
            <a:pPr algn="l">
              <a:lnSpc>
                <a:spcPts val="1739"/>
              </a:lnSpc>
            </a:pPr>
            <a:r>
              <a:rPr lang="en-US" sz="1449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Zinanyuca Huillca, Gandy Margoreth</a:t>
            </a:r>
          </a:p>
          <a:p>
            <a:pPr algn="l">
              <a:lnSpc>
                <a:spcPts val="1739"/>
              </a:lnSpc>
            </a:pPr>
            <a:r>
              <a:rPr lang="en-US" sz="1449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Jimenez Guerrero, Omar Fernando</a:t>
            </a:r>
          </a:p>
          <a:p>
            <a:pPr algn="l">
              <a:lnSpc>
                <a:spcPts val="1739"/>
              </a:lnSpc>
            </a:pPr>
            <a:r>
              <a:rPr lang="en-US" sz="1449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Changa Gomero, Carlos David</a:t>
            </a:r>
          </a:p>
          <a:p>
            <a:pPr algn="l">
              <a:lnSpc>
                <a:spcPts val="1739"/>
              </a:lnSpc>
            </a:pPr>
            <a:r>
              <a:rPr lang="en-US" sz="1449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Chamorro Cayetano, Jorge Josue</a:t>
            </a:r>
          </a:p>
          <a:p>
            <a:pPr algn="l">
              <a:lnSpc>
                <a:spcPts val="1739"/>
              </a:lnSpc>
            </a:pPr>
            <a:r>
              <a:rPr lang="en-US" sz="1449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Valdivia Acosta, Romina Fernanda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65792" y="6537960"/>
            <a:ext cx="67665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56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Avance parcial · Arquitectura actual (AS-IS) del Proceso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65792" y="7360920"/>
            <a:ext cx="676656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65792" y="7717155"/>
            <a:ext cx="67665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Mag. Carlos Chávez Broncano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65792" y="8494395"/>
            <a:ext cx="676656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i="true" spc="-47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Lima, 2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35604"/>
            <a:ext cx="7622857" cy="106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8077" i="true" spc="-565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43351" y="9296400"/>
            <a:ext cx="1415949" cy="3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4"/>
              </a:lnSpc>
            </a:pPr>
            <a:r>
              <a:rPr lang="en-US" b="true" sz="1400" spc="-42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629" y="3316999"/>
            <a:ext cx="5916848" cy="1597180"/>
            <a:chOff x="0" y="0"/>
            <a:chExt cx="1558347" cy="420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8347" cy="420656"/>
            </a:xfrm>
            <a:custGeom>
              <a:avLst/>
              <a:gdLst/>
              <a:ahLst/>
              <a:cxnLst/>
              <a:rect r="r" b="b" t="t" l="l"/>
              <a:pathLst>
                <a:path h="420656" w="1558347">
                  <a:moveTo>
                    <a:pt x="28786" y="0"/>
                  </a:moveTo>
                  <a:lnTo>
                    <a:pt x="1529561" y="0"/>
                  </a:lnTo>
                  <a:cubicBezTo>
                    <a:pt x="1545459" y="0"/>
                    <a:pt x="1558347" y="12888"/>
                    <a:pt x="1558347" y="28786"/>
                  </a:cubicBezTo>
                  <a:lnTo>
                    <a:pt x="1558347" y="391870"/>
                  </a:lnTo>
                  <a:cubicBezTo>
                    <a:pt x="1558347" y="407769"/>
                    <a:pt x="1545459" y="420656"/>
                    <a:pt x="1529561" y="420656"/>
                  </a:cubicBezTo>
                  <a:lnTo>
                    <a:pt x="28786" y="420656"/>
                  </a:lnTo>
                  <a:cubicBezTo>
                    <a:pt x="12888" y="420656"/>
                    <a:pt x="0" y="407769"/>
                    <a:pt x="0" y="391870"/>
                  </a:cubicBezTo>
                  <a:lnTo>
                    <a:pt x="0" y="28786"/>
                  </a:lnTo>
                  <a:cubicBezTo>
                    <a:pt x="0" y="12888"/>
                    <a:pt x="12888" y="0"/>
                    <a:pt x="28786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58347" cy="468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250165" y="3962794"/>
            <a:ext cx="5077775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b="true" sz="4500" spc="-13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62748" y="3660851"/>
            <a:ext cx="507777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80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La Organización </a:t>
            </a:r>
          </a:p>
          <a:p>
            <a:pPr algn="l">
              <a:lnSpc>
                <a:spcPts val="3779"/>
              </a:lnSpc>
            </a:pPr>
            <a:r>
              <a:rPr lang="en-US" sz="2699" spc="-80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y su mapa de procesos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830629" y="5143500"/>
            <a:ext cx="5916848" cy="1356517"/>
            <a:chOff x="0" y="0"/>
            <a:chExt cx="1558347" cy="3572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8347" cy="357272"/>
            </a:xfrm>
            <a:custGeom>
              <a:avLst/>
              <a:gdLst/>
              <a:ahLst/>
              <a:cxnLst/>
              <a:rect r="r" b="b" t="t" l="l"/>
              <a:pathLst>
                <a:path h="357272" w="1558347">
                  <a:moveTo>
                    <a:pt x="28786" y="0"/>
                  </a:moveTo>
                  <a:lnTo>
                    <a:pt x="1529561" y="0"/>
                  </a:lnTo>
                  <a:cubicBezTo>
                    <a:pt x="1545459" y="0"/>
                    <a:pt x="1558347" y="12888"/>
                    <a:pt x="1558347" y="28786"/>
                  </a:cubicBezTo>
                  <a:lnTo>
                    <a:pt x="1558347" y="328486"/>
                  </a:lnTo>
                  <a:cubicBezTo>
                    <a:pt x="1558347" y="344384"/>
                    <a:pt x="1545459" y="357272"/>
                    <a:pt x="1529561" y="357272"/>
                  </a:cubicBezTo>
                  <a:lnTo>
                    <a:pt x="28786" y="357272"/>
                  </a:lnTo>
                  <a:cubicBezTo>
                    <a:pt x="12888" y="357272"/>
                    <a:pt x="0" y="344384"/>
                    <a:pt x="0" y="328486"/>
                  </a:cubicBezTo>
                  <a:lnTo>
                    <a:pt x="0" y="28786"/>
                  </a:lnTo>
                  <a:cubicBezTo>
                    <a:pt x="0" y="12888"/>
                    <a:pt x="12888" y="0"/>
                    <a:pt x="28786" y="0"/>
                  </a:cubicBezTo>
                  <a:close/>
                </a:path>
              </a:pathLst>
            </a:custGeom>
            <a:solidFill>
              <a:srgbClr val="DAFE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558347" cy="404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250165" y="5634116"/>
            <a:ext cx="5077775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b="true" sz="4500" spc="-13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62748" y="5570299"/>
            <a:ext cx="507777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80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Objeto de análisis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830629" y="6919117"/>
            <a:ext cx="5916848" cy="1356517"/>
            <a:chOff x="0" y="0"/>
            <a:chExt cx="1558347" cy="3572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8347" cy="357272"/>
            </a:xfrm>
            <a:custGeom>
              <a:avLst/>
              <a:gdLst/>
              <a:ahLst/>
              <a:cxnLst/>
              <a:rect r="r" b="b" t="t" l="l"/>
              <a:pathLst>
                <a:path h="357272" w="1558347">
                  <a:moveTo>
                    <a:pt x="28786" y="0"/>
                  </a:moveTo>
                  <a:lnTo>
                    <a:pt x="1529561" y="0"/>
                  </a:lnTo>
                  <a:cubicBezTo>
                    <a:pt x="1545459" y="0"/>
                    <a:pt x="1558347" y="12888"/>
                    <a:pt x="1558347" y="28786"/>
                  </a:cubicBezTo>
                  <a:lnTo>
                    <a:pt x="1558347" y="328486"/>
                  </a:lnTo>
                  <a:cubicBezTo>
                    <a:pt x="1558347" y="344384"/>
                    <a:pt x="1545459" y="357272"/>
                    <a:pt x="1529561" y="357272"/>
                  </a:cubicBezTo>
                  <a:lnTo>
                    <a:pt x="28786" y="357272"/>
                  </a:lnTo>
                  <a:cubicBezTo>
                    <a:pt x="12888" y="357272"/>
                    <a:pt x="0" y="344384"/>
                    <a:pt x="0" y="328486"/>
                  </a:cubicBezTo>
                  <a:lnTo>
                    <a:pt x="0" y="28786"/>
                  </a:lnTo>
                  <a:cubicBezTo>
                    <a:pt x="0" y="12888"/>
                    <a:pt x="12888" y="0"/>
                    <a:pt x="28786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558347" cy="404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50165" y="7409734"/>
            <a:ext cx="5077775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b="true" sz="4500" spc="-13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62748" y="7157242"/>
            <a:ext cx="507777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80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Problemas y nuevas necesidades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40523" y="3316999"/>
            <a:ext cx="5916848" cy="1356517"/>
            <a:chOff x="0" y="0"/>
            <a:chExt cx="1558347" cy="357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58347" cy="357272"/>
            </a:xfrm>
            <a:custGeom>
              <a:avLst/>
              <a:gdLst/>
              <a:ahLst/>
              <a:cxnLst/>
              <a:rect r="r" b="b" t="t" l="l"/>
              <a:pathLst>
                <a:path h="357272" w="1558347">
                  <a:moveTo>
                    <a:pt x="28786" y="0"/>
                  </a:moveTo>
                  <a:lnTo>
                    <a:pt x="1529561" y="0"/>
                  </a:lnTo>
                  <a:cubicBezTo>
                    <a:pt x="1545459" y="0"/>
                    <a:pt x="1558347" y="12888"/>
                    <a:pt x="1558347" y="28786"/>
                  </a:cubicBezTo>
                  <a:lnTo>
                    <a:pt x="1558347" y="328486"/>
                  </a:lnTo>
                  <a:cubicBezTo>
                    <a:pt x="1558347" y="344384"/>
                    <a:pt x="1545459" y="357272"/>
                    <a:pt x="1529561" y="357272"/>
                  </a:cubicBezTo>
                  <a:lnTo>
                    <a:pt x="28786" y="357272"/>
                  </a:lnTo>
                  <a:cubicBezTo>
                    <a:pt x="12888" y="357272"/>
                    <a:pt x="0" y="344384"/>
                    <a:pt x="0" y="328486"/>
                  </a:cubicBezTo>
                  <a:lnTo>
                    <a:pt x="0" y="28786"/>
                  </a:lnTo>
                  <a:cubicBezTo>
                    <a:pt x="0" y="12888"/>
                    <a:pt x="12888" y="0"/>
                    <a:pt x="28786" y="0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58347" cy="404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960060" y="3826586"/>
            <a:ext cx="5077775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b="true" sz="4500" spc="-13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35620" y="3762769"/>
            <a:ext cx="507777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80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Mapa de capacidades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40523" y="5143500"/>
            <a:ext cx="5916848" cy="1356517"/>
            <a:chOff x="0" y="0"/>
            <a:chExt cx="1558347" cy="3572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8347" cy="357272"/>
            </a:xfrm>
            <a:custGeom>
              <a:avLst/>
              <a:gdLst/>
              <a:ahLst/>
              <a:cxnLst/>
              <a:rect r="r" b="b" t="t" l="l"/>
              <a:pathLst>
                <a:path h="357272" w="1558347">
                  <a:moveTo>
                    <a:pt x="28786" y="0"/>
                  </a:moveTo>
                  <a:lnTo>
                    <a:pt x="1529561" y="0"/>
                  </a:lnTo>
                  <a:cubicBezTo>
                    <a:pt x="1545459" y="0"/>
                    <a:pt x="1558347" y="12888"/>
                    <a:pt x="1558347" y="28786"/>
                  </a:cubicBezTo>
                  <a:lnTo>
                    <a:pt x="1558347" y="328486"/>
                  </a:lnTo>
                  <a:cubicBezTo>
                    <a:pt x="1558347" y="344384"/>
                    <a:pt x="1545459" y="357272"/>
                    <a:pt x="1529561" y="357272"/>
                  </a:cubicBezTo>
                  <a:lnTo>
                    <a:pt x="28786" y="357272"/>
                  </a:lnTo>
                  <a:cubicBezTo>
                    <a:pt x="12888" y="357272"/>
                    <a:pt x="0" y="344384"/>
                    <a:pt x="0" y="328486"/>
                  </a:cubicBezTo>
                  <a:lnTo>
                    <a:pt x="0" y="28786"/>
                  </a:lnTo>
                  <a:cubicBezTo>
                    <a:pt x="0" y="12888"/>
                    <a:pt x="12888" y="0"/>
                    <a:pt x="28786" y="0"/>
                  </a:cubicBezTo>
                  <a:close/>
                </a:path>
              </a:pathLst>
            </a:custGeom>
            <a:solidFill>
              <a:srgbClr val="E8E8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558347" cy="404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960060" y="5634116"/>
            <a:ext cx="5077775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b="true" sz="4500" spc="-13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35620" y="5570299"/>
            <a:ext cx="507777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80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Arquitectura AS-IS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01 · La Organización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Una cadena andina que apostó por lo digital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6" id="6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4128" y="2093595"/>
            <a:ext cx="87782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 spc="-63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Cadena de retail andina fundada en 1982.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4128" y="2788920"/>
            <a:ext cx="4297680" cy="2971800"/>
            <a:chOff x="0" y="0"/>
            <a:chExt cx="5730240" cy="396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30240" cy="3962400"/>
            </a:xfrm>
            <a:custGeom>
              <a:avLst/>
              <a:gdLst/>
              <a:ahLst/>
              <a:cxnLst/>
              <a:rect r="r" b="b" t="t" l="l"/>
              <a:pathLst>
                <a:path h="3962400" w="573024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5340096" y="0"/>
                  </a:lnTo>
                  <a:cubicBezTo>
                    <a:pt x="5555615" y="0"/>
                    <a:pt x="5730240" y="174625"/>
                    <a:pt x="5730240" y="390144"/>
                  </a:cubicBezTo>
                  <a:lnTo>
                    <a:pt x="5730240" y="3572256"/>
                  </a:lnTo>
                  <a:cubicBezTo>
                    <a:pt x="5730240" y="3787775"/>
                    <a:pt x="5555615" y="3962400"/>
                    <a:pt x="5340096" y="3962400"/>
                  </a:cubicBezTo>
                  <a:lnTo>
                    <a:pt x="390144" y="3962400"/>
                  </a:lnTo>
                  <a:cubicBezTo>
                    <a:pt x="174625" y="3962400"/>
                    <a:pt x="0" y="3787775"/>
                    <a:pt x="0" y="357225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89888" y="315468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19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145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9888" y="4105275"/>
            <a:ext cx="36576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60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tiendas en 3 países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9888" y="461772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45 por departamento · 100 de proximidad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641848" y="2788920"/>
            <a:ext cx="4297680" cy="2971800"/>
            <a:chOff x="0" y="0"/>
            <a:chExt cx="5730240" cy="396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30240" cy="3962400"/>
            </a:xfrm>
            <a:custGeom>
              <a:avLst/>
              <a:gdLst/>
              <a:ahLst/>
              <a:cxnLst/>
              <a:rect r="r" b="b" t="t" l="l"/>
              <a:pathLst>
                <a:path h="3962400" w="573024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5340096" y="0"/>
                  </a:lnTo>
                  <a:cubicBezTo>
                    <a:pt x="5555615" y="0"/>
                    <a:pt x="5730240" y="174625"/>
                    <a:pt x="5730240" y="390144"/>
                  </a:cubicBezTo>
                  <a:lnTo>
                    <a:pt x="5730240" y="3572256"/>
                  </a:lnTo>
                  <a:cubicBezTo>
                    <a:pt x="5730240" y="3787775"/>
                    <a:pt x="5555615" y="3962400"/>
                    <a:pt x="5340096" y="3962400"/>
                  </a:cubicBezTo>
                  <a:lnTo>
                    <a:pt x="390144" y="3962400"/>
                  </a:lnTo>
                  <a:cubicBezTo>
                    <a:pt x="174625" y="3962400"/>
                    <a:pt x="0" y="3787775"/>
                    <a:pt x="0" y="357225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007608" y="315468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19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12,000+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7608" y="4105275"/>
            <a:ext cx="36576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60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colaboradores directos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7608" y="461772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Estructura jerárquica vertical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4128" y="6080760"/>
            <a:ext cx="4297680" cy="2971800"/>
            <a:chOff x="0" y="0"/>
            <a:chExt cx="5730240" cy="396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30240" cy="3962400"/>
            </a:xfrm>
            <a:custGeom>
              <a:avLst/>
              <a:gdLst/>
              <a:ahLst/>
              <a:cxnLst/>
              <a:rect r="r" b="b" t="t" l="l"/>
              <a:pathLst>
                <a:path h="3962400" w="573024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5340096" y="0"/>
                  </a:lnTo>
                  <a:cubicBezTo>
                    <a:pt x="5555615" y="0"/>
                    <a:pt x="5730240" y="174625"/>
                    <a:pt x="5730240" y="390144"/>
                  </a:cubicBezTo>
                  <a:lnTo>
                    <a:pt x="5730240" y="3572256"/>
                  </a:lnTo>
                  <a:cubicBezTo>
                    <a:pt x="5730240" y="3787775"/>
                    <a:pt x="5555615" y="3962400"/>
                    <a:pt x="5340096" y="3962400"/>
                  </a:cubicBezTo>
                  <a:lnTo>
                    <a:pt x="390144" y="3962400"/>
                  </a:lnTo>
                  <a:cubicBezTo>
                    <a:pt x="174625" y="3962400"/>
                    <a:pt x="0" y="3787775"/>
                    <a:pt x="0" y="357225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89888" y="644652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19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US$ 850 MM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9888" y="7397115"/>
            <a:ext cx="36576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60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ventas anuales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9888" y="790956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Cierre 2025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641848" y="6080760"/>
            <a:ext cx="4297680" cy="2971800"/>
            <a:chOff x="0" y="0"/>
            <a:chExt cx="5730240" cy="3962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30240" cy="3962400"/>
            </a:xfrm>
            <a:custGeom>
              <a:avLst/>
              <a:gdLst/>
              <a:ahLst/>
              <a:cxnLst/>
              <a:rect r="r" b="b" t="t" l="l"/>
              <a:pathLst>
                <a:path h="3962400" w="573024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5340096" y="0"/>
                  </a:lnTo>
                  <a:cubicBezTo>
                    <a:pt x="5555615" y="0"/>
                    <a:pt x="5730240" y="174625"/>
                    <a:pt x="5730240" y="390144"/>
                  </a:cubicBezTo>
                  <a:lnTo>
                    <a:pt x="5730240" y="3572256"/>
                  </a:lnTo>
                  <a:cubicBezTo>
                    <a:pt x="5730240" y="3787775"/>
                    <a:pt x="5555615" y="3962400"/>
                    <a:pt x="5340096" y="3962400"/>
                  </a:cubicBezTo>
                  <a:lnTo>
                    <a:pt x="390144" y="3962400"/>
                  </a:lnTo>
                  <a:cubicBezTo>
                    <a:pt x="174625" y="3962400"/>
                    <a:pt x="0" y="3787775"/>
                    <a:pt x="0" y="3572256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007608" y="644652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4% a 22%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07608" y="7397115"/>
            <a:ext cx="36576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60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ventas por canales digitales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07608" y="7909560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Entre 2021 y 2025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0" y="2103120"/>
            <a:ext cx="6976872" cy="6949440"/>
            <a:chOff x="0" y="0"/>
            <a:chExt cx="9302496" cy="926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02496" cy="9265920"/>
            </a:xfrm>
            <a:custGeom>
              <a:avLst/>
              <a:gdLst/>
              <a:ahLst/>
              <a:cxnLst/>
              <a:rect r="r" b="b" t="t" l="l"/>
              <a:pathLst>
                <a:path h="9265920" w="9302496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8912352" y="0"/>
                  </a:lnTo>
                  <a:cubicBezTo>
                    <a:pt x="9127744" y="0"/>
                    <a:pt x="9302496" y="174625"/>
                    <a:pt x="9302496" y="390144"/>
                  </a:cubicBezTo>
                  <a:lnTo>
                    <a:pt x="9302496" y="8875776"/>
                  </a:lnTo>
                  <a:cubicBezTo>
                    <a:pt x="9302496" y="9091168"/>
                    <a:pt x="9127871" y="9265920"/>
                    <a:pt x="8912352" y="9265920"/>
                  </a:cubicBezTo>
                  <a:lnTo>
                    <a:pt x="390144" y="9265920"/>
                  </a:lnTo>
                  <a:cubicBezTo>
                    <a:pt x="174625" y="9265920"/>
                    <a:pt x="0" y="9091295"/>
                    <a:pt x="0" y="8875776"/>
                  </a:cubicBezTo>
                  <a:close/>
                </a:path>
              </a:pathLst>
            </a:custGeom>
            <a:solidFill>
              <a:srgbClr val="EAF3E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744200" y="2423160"/>
            <a:ext cx="606247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Ingresos por categoría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1295" y="2268572"/>
            <a:ext cx="7615764" cy="4029258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0744200" y="5897880"/>
            <a:ext cx="606247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Tres segmentos de clientes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789920" y="6647688"/>
            <a:ext cx="182880" cy="182880"/>
            <a:chOff x="0" y="0"/>
            <a:chExt cx="243840" cy="243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201400" y="6537960"/>
            <a:ext cx="560527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Familias tradicionales</a:t>
            </a:r>
          </a:p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Tienda física, crédito o tarjeta propia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789920" y="7452360"/>
            <a:ext cx="182880" cy="182880"/>
            <a:chOff x="0" y="0"/>
            <a:chExt cx="243840" cy="243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201400" y="7342632"/>
            <a:ext cx="560527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Jóvenes profesionales digitales</a:t>
            </a:r>
          </a:p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Web, app y entrega el mismo día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789920" y="8257032"/>
            <a:ext cx="182880" cy="182880"/>
            <a:chOff x="0" y="0"/>
            <a:chExt cx="243840" cy="243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1201400" y="8147304"/>
            <a:ext cx="560527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B2B / pequeños comerciantes</a:t>
            </a:r>
          </a:p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Compras al por mayor, venta institucional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01 · La Organización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NOVA 2028: metas lejos del valor actual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6" id="6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4128" y="2057400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i="true" spc="-56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El plan “NOVA 2028: Crecimiento Sin Fronteras” busca duplicar la valorización y consolidar a NOVA como plataforma omnicanal líder.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4128" y="2743200"/>
            <a:ext cx="3813048" cy="2907792"/>
            <a:chOff x="0" y="0"/>
            <a:chExt cx="5084064" cy="38770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4064" cy="3877056"/>
            </a:xfrm>
            <a:custGeom>
              <a:avLst/>
              <a:gdLst/>
              <a:ahLst/>
              <a:cxnLst/>
              <a:rect r="r" b="b" t="t" l="l"/>
              <a:pathLst>
                <a:path h="3877056" w="508406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4693920" y="0"/>
                  </a:lnTo>
                  <a:cubicBezTo>
                    <a:pt x="4909312" y="0"/>
                    <a:pt x="5084064" y="174625"/>
                    <a:pt x="5084064" y="390144"/>
                  </a:cubicBezTo>
                  <a:lnTo>
                    <a:pt x="5084064" y="3486912"/>
                  </a:lnTo>
                  <a:cubicBezTo>
                    <a:pt x="5084064" y="3702304"/>
                    <a:pt x="4909439" y="3877056"/>
                    <a:pt x="4693920" y="3877056"/>
                  </a:cubicBezTo>
                  <a:lnTo>
                    <a:pt x="390144" y="3877056"/>
                  </a:lnTo>
                  <a:cubicBezTo>
                    <a:pt x="174625" y="3877056"/>
                    <a:pt x="0" y="3702431"/>
                    <a:pt x="0" y="34869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4168" y="30175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Ventas anuales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4168" y="37033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US$ 850 MM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4168" y="45262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Meta: US$ 1,200 MM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66360" y="2743200"/>
            <a:ext cx="3813048" cy="2907792"/>
            <a:chOff x="0" y="0"/>
            <a:chExt cx="5084064" cy="3877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4064" cy="3877056"/>
            </a:xfrm>
            <a:custGeom>
              <a:avLst/>
              <a:gdLst/>
              <a:ahLst/>
              <a:cxnLst/>
              <a:rect r="r" b="b" t="t" l="l"/>
              <a:pathLst>
                <a:path h="3877056" w="508406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4693920" y="0"/>
                  </a:lnTo>
                  <a:cubicBezTo>
                    <a:pt x="4909312" y="0"/>
                    <a:pt x="5084064" y="174625"/>
                    <a:pt x="5084064" y="390144"/>
                  </a:cubicBezTo>
                  <a:lnTo>
                    <a:pt x="5084064" y="3486912"/>
                  </a:lnTo>
                  <a:cubicBezTo>
                    <a:pt x="5084064" y="3702304"/>
                    <a:pt x="4909439" y="3877056"/>
                    <a:pt x="4693920" y="3877056"/>
                  </a:cubicBezTo>
                  <a:lnTo>
                    <a:pt x="390144" y="3877056"/>
                  </a:lnTo>
                  <a:cubicBezTo>
                    <a:pt x="174625" y="3877056"/>
                    <a:pt x="0" y="3702431"/>
                    <a:pt x="0" y="34869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486400" y="30175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Participación digital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86400" y="37033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22%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86400" y="45262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Meta: 35%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08592" y="2743200"/>
            <a:ext cx="3813048" cy="2907792"/>
            <a:chOff x="0" y="0"/>
            <a:chExt cx="5084064" cy="38770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4064" cy="3877056"/>
            </a:xfrm>
            <a:custGeom>
              <a:avLst/>
              <a:gdLst/>
              <a:ahLst/>
              <a:cxnLst/>
              <a:rect r="r" b="b" t="t" l="l"/>
              <a:pathLst>
                <a:path h="3877056" w="508406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4693920" y="0"/>
                  </a:lnTo>
                  <a:cubicBezTo>
                    <a:pt x="4909312" y="0"/>
                    <a:pt x="5084064" y="174625"/>
                    <a:pt x="5084064" y="390144"/>
                  </a:cubicBezTo>
                  <a:lnTo>
                    <a:pt x="5084064" y="3486912"/>
                  </a:lnTo>
                  <a:cubicBezTo>
                    <a:pt x="5084064" y="3702304"/>
                    <a:pt x="4909439" y="3877056"/>
                    <a:pt x="4693920" y="3877056"/>
                  </a:cubicBezTo>
                  <a:lnTo>
                    <a:pt x="390144" y="3877056"/>
                  </a:lnTo>
                  <a:cubicBezTo>
                    <a:pt x="174625" y="3877056"/>
                    <a:pt x="0" y="3702431"/>
                    <a:pt x="0" y="34869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28632" y="30175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Pedidos digitales al mes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8632" y="37033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350,000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8632" y="45262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Meta: 600,000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438127" y="2730503"/>
            <a:ext cx="3838451" cy="2933195"/>
            <a:chOff x="0" y="0"/>
            <a:chExt cx="5117935" cy="39109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17973" cy="3910965"/>
            </a:xfrm>
            <a:custGeom>
              <a:avLst/>
              <a:gdLst/>
              <a:ahLst/>
              <a:cxnLst/>
              <a:rect r="r" b="b" t="t" l="l"/>
              <a:pathLst>
                <a:path h="3910965" w="511797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724400" y="0"/>
                  </a:lnTo>
                  <a:cubicBezTo>
                    <a:pt x="4941697" y="0"/>
                    <a:pt x="5117973" y="176149"/>
                    <a:pt x="5117973" y="393573"/>
                  </a:cubicBezTo>
                  <a:lnTo>
                    <a:pt x="5117973" y="3517392"/>
                  </a:lnTo>
                  <a:cubicBezTo>
                    <a:pt x="5117973" y="3734689"/>
                    <a:pt x="4941824" y="3910965"/>
                    <a:pt x="4724400" y="3910965"/>
                  </a:cubicBezTo>
                  <a:lnTo>
                    <a:pt x="393573" y="3910965"/>
                  </a:lnTo>
                  <a:cubicBezTo>
                    <a:pt x="176149" y="3910965"/>
                    <a:pt x="0" y="3734689"/>
                    <a:pt x="0" y="3517392"/>
                  </a:cubicBezTo>
                  <a:close/>
                </a:path>
              </a:pathLst>
            </a:custGeom>
            <a:solidFill>
              <a:srgbClr val="EAF3EE"/>
            </a:solidFill>
            <a:ln w="25400" cap="sq">
              <a:solidFill>
                <a:srgbClr val="1F6E4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770864" y="30175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Quiebre de stock digital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70864" y="37033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14.5%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70864" y="45262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700" spc="-51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Meta: menos de 2.0%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770864" y="5029200"/>
            <a:ext cx="2331720" cy="402336"/>
            <a:chOff x="0" y="0"/>
            <a:chExt cx="3108960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536448"/>
            </a:xfrm>
            <a:custGeom>
              <a:avLst/>
              <a:gdLst/>
              <a:ahLst/>
              <a:cxnLst/>
              <a:rect r="r" b="b" t="t" l="l"/>
              <a:pathLst>
                <a:path h="536448" w="310896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840736" y="0"/>
                  </a:lnTo>
                  <a:cubicBezTo>
                    <a:pt x="2988818" y="0"/>
                    <a:pt x="3108960" y="120142"/>
                    <a:pt x="3108960" y="268224"/>
                  </a:cubicBezTo>
                  <a:cubicBezTo>
                    <a:pt x="3108960" y="416306"/>
                    <a:pt x="2988818" y="536448"/>
                    <a:pt x="284073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10896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Ligado al Proceso 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1431" y="5930903"/>
            <a:ext cx="3838451" cy="2933195"/>
            <a:chOff x="0" y="0"/>
            <a:chExt cx="5117935" cy="39109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17973" cy="3910965"/>
            </a:xfrm>
            <a:custGeom>
              <a:avLst/>
              <a:gdLst/>
              <a:ahLst/>
              <a:cxnLst/>
              <a:rect r="r" b="b" t="t" l="l"/>
              <a:pathLst>
                <a:path h="3910965" w="511797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724400" y="0"/>
                  </a:lnTo>
                  <a:cubicBezTo>
                    <a:pt x="4941697" y="0"/>
                    <a:pt x="5117973" y="176149"/>
                    <a:pt x="5117973" y="393573"/>
                  </a:cubicBezTo>
                  <a:lnTo>
                    <a:pt x="5117973" y="3517392"/>
                  </a:lnTo>
                  <a:cubicBezTo>
                    <a:pt x="5117973" y="3734689"/>
                    <a:pt x="4941824" y="3910965"/>
                    <a:pt x="4724400" y="3910965"/>
                  </a:cubicBezTo>
                  <a:lnTo>
                    <a:pt x="393573" y="3910965"/>
                  </a:lnTo>
                  <a:cubicBezTo>
                    <a:pt x="176149" y="3910965"/>
                    <a:pt x="0" y="3734689"/>
                    <a:pt x="0" y="3517392"/>
                  </a:cubicBezTo>
                  <a:close/>
                </a:path>
              </a:pathLst>
            </a:custGeom>
            <a:solidFill>
              <a:srgbClr val="EAF3EE"/>
            </a:solidFill>
            <a:ln w="25400" cap="sq">
              <a:solidFill>
                <a:srgbClr val="1F6E44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344168" y="62179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Cancelación de pedidos digitales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4168" y="69037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8.2%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4168" y="77266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700" spc="-51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Meta: menos de 1.5%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44168" y="8229600"/>
            <a:ext cx="2331720" cy="402336"/>
            <a:chOff x="0" y="0"/>
            <a:chExt cx="3108960" cy="5364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08960" cy="536448"/>
            </a:xfrm>
            <a:custGeom>
              <a:avLst/>
              <a:gdLst/>
              <a:ahLst/>
              <a:cxnLst/>
              <a:rect r="r" b="b" t="t" l="l"/>
              <a:pathLst>
                <a:path h="536448" w="310896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840736" y="0"/>
                  </a:lnTo>
                  <a:cubicBezTo>
                    <a:pt x="2988818" y="0"/>
                    <a:pt x="3108960" y="120142"/>
                    <a:pt x="3108960" y="268224"/>
                  </a:cubicBezTo>
                  <a:cubicBezTo>
                    <a:pt x="3108960" y="416306"/>
                    <a:pt x="2988818" y="536448"/>
                    <a:pt x="284073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10896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Ligado al Proceso 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166360" y="5943600"/>
            <a:ext cx="3813048" cy="2907792"/>
            <a:chOff x="0" y="0"/>
            <a:chExt cx="5084064" cy="3877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4064" cy="3877056"/>
            </a:xfrm>
            <a:custGeom>
              <a:avLst/>
              <a:gdLst/>
              <a:ahLst/>
              <a:cxnLst/>
              <a:rect r="r" b="b" t="t" l="l"/>
              <a:pathLst>
                <a:path h="3877056" w="508406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4693920" y="0"/>
                  </a:lnTo>
                  <a:cubicBezTo>
                    <a:pt x="4909312" y="0"/>
                    <a:pt x="5084064" y="174625"/>
                    <a:pt x="5084064" y="390144"/>
                  </a:cubicBezTo>
                  <a:lnTo>
                    <a:pt x="5084064" y="3486912"/>
                  </a:lnTo>
                  <a:cubicBezTo>
                    <a:pt x="5084064" y="3702304"/>
                    <a:pt x="4909439" y="3877056"/>
                    <a:pt x="4693920" y="3877056"/>
                  </a:cubicBezTo>
                  <a:lnTo>
                    <a:pt x="390144" y="3877056"/>
                  </a:lnTo>
                  <a:cubicBezTo>
                    <a:pt x="174625" y="3877056"/>
                    <a:pt x="0" y="3702431"/>
                    <a:pt x="0" y="34869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5486400" y="62179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Net Promoter Score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86400" y="69037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+19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486400" y="77266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Meta: +60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95895" y="5930903"/>
            <a:ext cx="3838451" cy="2933195"/>
            <a:chOff x="0" y="0"/>
            <a:chExt cx="5117935" cy="391092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17973" cy="3910965"/>
            </a:xfrm>
            <a:custGeom>
              <a:avLst/>
              <a:gdLst/>
              <a:ahLst/>
              <a:cxnLst/>
              <a:rect r="r" b="b" t="t" l="l"/>
              <a:pathLst>
                <a:path h="3910965" w="511797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724400" y="0"/>
                  </a:lnTo>
                  <a:cubicBezTo>
                    <a:pt x="4941697" y="0"/>
                    <a:pt x="5117973" y="176149"/>
                    <a:pt x="5117973" y="393573"/>
                  </a:cubicBezTo>
                  <a:lnTo>
                    <a:pt x="5117973" y="3517392"/>
                  </a:lnTo>
                  <a:cubicBezTo>
                    <a:pt x="5117973" y="3734689"/>
                    <a:pt x="4941824" y="3910965"/>
                    <a:pt x="4724400" y="3910965"/>
                  </a:cubicBezTo>
                  <a:lnTo>
                    <a:pt x="393573" y="3910965"/>
                  </a:lnTo>
                  <a:cubicBezTo>
                    <a:pt x="176149" y="3910965"/>
                    <a:pt x="0" y="3734689"/>
                    <a:pt x="0" y="3517392"/>
                  </a:cubicBezTo>
                  <a:close/>
                </a:path>
              </a:pathLst>
            </a:custGeom>
            <a:solidFill>
              <a:srgbClr val="EAF3EE"/>
            </a:solidFill>
            <a:ln w="25400" cap="sq">
              <a:solidFill>
                <a:srgbClr val="1F6E44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9628632" y="62179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OTIF (a tiempo y completos)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28632" y="69037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68.0%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28632" y="77266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700" spc="-51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Meta: más de 95.0%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628632" y="8229600"/>
            <a:ext cx="2331720" cy="402336"/>
            <a:chOff x="0" y="0"/>
            <a:chExt cx="3108960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08960" cy="536448"/>
            </a:xfrm>
            <a:custGeom>
              <a:avLst/>
              <a:gdLst/>
              <a:ahLst/>
              <a:cxnLst/>
              <a:rect r="r" b="b" t="t" l="l"/>
              <a:pathLst>
                <a:path h="536448" w="310896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840736" y="0"/>
                  </a:lnTo>
                  <a:cubicBezTo>
                    <a:pt x="2988818" y="0"/>
                    <a:pt x="3108960" y="120142"/>
                    <a:pt x="3108960" y="268224"/>
                  </a:cubicBezTo>
                  <a:cubicBezTo>
                    <a:pt x="3108960" y="416306"/>
                    <a:pt x="2988818" y="536448"/>
                    <a:pt x="284073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10896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Ligado al Proceso 1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450824" y="5943600"/>
            <a:ext cx="3813048" cy="2907792"/>
            <a:chOff x="0" y="0"/>
            <a:chExt cx="5084064" cy="3877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84064" cy="3877056"/>
            </a:xfrm>
            <a:custGeom>
              <a:avLst/>
              <a:gdLst/>
              <a:ahLst/>
              <a:cxnLst/>
              <a:rect r="r" b="b" t="t" l="l"/>
              <a:pathLst>
                <a:path h="3877056" w="508406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4693920" y="0"/>
                  </a:lnTo>
                  <a:cubicBezTo>
                    <a:pt x="4909312" y="0"/>
                    <a:pt x="5084064" y="174625"/>
                    <a:pt x="5084064" y="390144"/>
                  </a:cubicBezTo>
                  <a:lnTo>
                    <a:pt x="5084064" y="3486912"/>
                  </a:lnTo>
                  <a:cubicBezTo>
                    <a:pt x="5084064" y="3702304"/>
                    <a:pt x="4909439" y="3877056"/>
                    <a:pt x="4693920" y="3877056"/>
                  </a:cubicBezTo>
                  <a:lnTo>
                    <a:pt x="390144" y="3877056"/>
                  </a:lnTo>
                  <a:cubicBezTo>
                    <a:pt x="174625" y="3877056"/>
                    <a:pt x="0" y="3702431"/>
                    <a:pt x="0" y="34869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3770864" y="6217920"/>
            <a:ext cx="326440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Costo anual de TI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70864" y="6903720"/>
            <a:ext cx="335584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107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US$ 24 MM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70864" y="7726680"/>
            <a:ext cx="32644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Meta: US$ 18 MM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4128" y="8915400"/>
            <a:ext cx="13716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 spc="-44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Valor actual al cierre de 2025 (Q4) frente a la meta estratégica del plan NOVA 2028.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01 · La Organización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Quiénes participan en el proceso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6194" y="2186626"/>
            <a:ext cx="10348598" cy="6828158"/>
            <a:chOff x="0" y="0"/>
            <a:chExt cx="13798131" cy="9104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98170" cy="9104249"/>
            </a:xfrm>
            <a:custGeom>
              <a:avLst/>
              <a:gdLst/>
              <a:ahLst/>
              <a:cxnLst/>
              <a:rect r="r" b="b" t="t" l="l"/>
              <a:pathLst>
                <a:path h="9104249" w="13798170">
                  <a:moveTo>
                    <a:pt x="0" y="391033"/>
                  </a:moveTo>
                  <a:cubicBezTo>
                    <a:pt x="0" y="175006"/>
                    <a:pt x="175006" y="0"/>
                    <a:pt x="391033" y="0"/>
                  </a:cubicBezTo>
                  <a:lnTo>
                    <a:pt x="13407137" y="0"/>
                  </a:lnTo>
                  <a:cubicBezTo>
                    <a:pt x="13623037" y="0"/>
                    <a:pt x="13798170" y="175006"/>
                    <a:pt x="13798170" y="391033"/>
                  </a:cubicBezTo>
                  <a:lnTo>
                    <a:pt x="13798170" y="8713216"/>
                  </a:lnTo>
                  <a:cubicBezTo>
                    <a:pt x="13798170" y="8929116"/>
                    <a:pt x="13623164" y="9104249"/>
                    <a:pt x="13407137" y="9104249"/>
                  </a:cubicBezTo>
                  <a:lnTo>
                    <a:pt x="391033" y="9104249"/>
                  </a:lnTo>
                  <a:cubicBezTo>
                    <a:pt x="175133" y="9104249"/>
                    <a:pt x="0" y="8929243"/>
                    <a:pt x="0" y="871321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52728" y="2627967"/>
            <a:ext cx="9875520" cy="5945467"/>
            <a:chOff x="0" y="0"/>
            <a:chExt cx="13167360" cy="7927289"/>
          </a:xfrm>
        </p:grpSpPr>
        <p:sp>
          <p:nvSpPr>
            <p:cNvPr name="Freeform 11" id="11" descr="image-4-1.png"/>
            <p:cNvSpPr/>
            <p:nvPr/>
          </p:nvSpPr>
          <p:spPr>
            <a:xfrm flipH="false" flipV="false" rot="0">
              <a:off x="0" y="0"/>
              <a:ext cx="13167361" cy="7927340"/>
            </a:xfrm>
            <a:custGeom>
              <a:avLst/>
              <a:gdLst/>
              <a:ahLst/>
              <a:cxnLst/>
              <a:rect r="r" b="b" t="t" l="l"/>
              <a:pathLst>
                <a:path h="79273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7927340"/>
                  </a:lnTo>
                  <a:lnTo>
                    <a:pt x="0" y="7927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04320" y="2194560"/>
            <a:ext cx="5559552" cy="1481328"/>
            <a:chOff x="0" y="0"/>
            <a:chExt cx="7412736" cy="19751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12736" cy="1975104"/>
            </a:xfrm>
            <a:custGeom>
              <a:avLst/>
              <a:gdLst/>
              <a:ahLst/>
              <a:cxnLst/>
              <a:rect r="r" b="b" t="t" l="l"/>
              <a:pathLst>
                <a:path h="1975104" w="741273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7095744" y="0"/>
                  </a:lnTo>
                  <a:cubicBezTo>
                    <a:pt x="7270750" y="0"/>
                    <a:pt x="7412736" y="141859"/>
                    <a:pt x="7412736" y="316992"/>
                  </a:cubicBezTo>
                  <a:lnTo>
                    <a:pt x="7412736" y="1658112"/>
                  </a:lnTo>
                  <a:cubicBezTo>
                    <a:pt x="7412736" y="1833118"/>
                    <a:pt x="7270876" y="1975104"/>
                    <a:pt x="7095744" y="1975104"/>
                  </a:cubicBezTo>
                  <a:lnTo>
                    <a:pt x="316992" y="1975104"/>
                  </a:lnTo>
                  <a:cubicBezTo>
                    <a:pt x="141859" y="1975104"/>
                    <a:pt x="0" y="1833245"/>
                    <a:pt x="0" y="1658112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24360" y="2377440"/>
            <a:ext cx="50292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DUEÑA DEL PROCESO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4360" y="2670048"/>
            <a:ext cx="50292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5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Dirección Comercial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24360" y="3063240"/>
            <a:ext cx="502920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Analista de Planificación (SP1, SP2) y Jefe de Categoría / Comprador (SP3, SP4, SP5).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704320" y="3813048"/>
            <a:ext cx="5559552" cy="1481328"/>
            <a:chOff x="0" y="0"/>
            <a:chExt cx="7412736" cy="19751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12736" cy="1975104"/>
            </a:xfrm>
            <a:custGeom>
              <a:avLst/>
              <a:gdLst/>
              <a:ahLst/>
              <a:cxnLst/>
              <a:rect r="r" b="b" t="t" l="l"/>
              <a:pathLst>
                <a:path h="1975104" w="741273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7095744" y="0"/>
                  </a:lnTo>
                  <a:cubicBezTo>
                    <a:pt x="7270750" y="0"/>
                    <a:pt x="7412736" y="141859"/>
                    <a:pt x="7412736" y="316992"/>
                  </a:cubicBezTo>
                  <a:lnTo>
                    <a:pt x="7412736" y="1658112"/>
                  </a:lnTo>
                  <a:cubicBezTo>
                    <a:pt x="7412736" y="1833118"/>
                    <a:pt x="7270876" y="1975104"/>
                    <a:pt x="7095744" y="1975104"/>
                  </a:cubicBezTo>
                  <a:lnTo>
                    <a:pt x="316992" y="1975104"/>
                  </a:lnTo>
                  <a:cubicBezTo>
                    <a:pt x="141859" y="1975104"/>
                    <a:pt x="0" y="1833245"/>
                    <a:pt x="0" y="16581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024360" y="3995928"/>
            <a:ext cx="50292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PARTICIPA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24360" y="4288536"/>
            <a:ext cx="50292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5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Finanzas y Administración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24360" y="4681728"/>
            <a:ext cx="502920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El Analista de Finanzas / CxP recibe y registra la factura del proveedor (SP7).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704320" y="5431536"/>
            <a:ext cx="5559552" cy="1481328"/>
            <a:chOff x="0" y="0"/>
            <a:chExt cx="7412736" cy="19751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12736" cy="1975104"/>
            </a:xfrm>
            <a:custGeom>
              <a:avLst/>
              <a:gdLst/>
              <a:ahLst/>
              <a:cxnLst/>
              <a:rect r="r" b="b" t="t" l="l"/>
              <a:pathLst>
                <a:path h="1975104" w="741273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7095744" y="0"/>
                  </a:lnTo>
                  <a:cubicBezTo>
                    <a:pt x="7270750" y="0"/>
                    <a:pt x="7412736" y="141859"/>
                    <a:pt x="7412736" y="316992"/>
                  </a:cubicBezTo>
                  <a:lnTo>
                    <a:pt x="7412736" y="1658112"/>
                  </a:lnTo>
                  <a:cubicBezTo>
                    <a:pt x="7412736" y="1833118"/>
                    <a:pt x="7270876" y="1975104"/>
                    <a:pt x="7095744" y="1975104"/>
                  </a:cubicBezTo>
                  <a:lnTo>
                    <a:pt x="316992" y="1975104"/>
                  </a:lnTo>
                  <a:cubicBezTo>
                    <a:pt x="141859" y="1975104"/>
                    <a:pt x="0" y="1833245"/>
                    <a:pt x="0" y="16581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024360" y="5614416"/>
            <a:ext cx="50292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INTERACTÚA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24360" y="5907024"/>
            <a:ext cx="50292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5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Operaciones y Logística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24360" y="6300216"/>
            <a:ext cx="502920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Recibe la mercancía de las OC en el Proceso 2.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704320" y="7050024"/>
            <a:ext cx="5559552" cy="1481328"/>
            <a:chOff x="0" y="0"/>
            <a:chExt cx="7412736" cy="19751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12736" cy="1975104"/>
            </a:xfrm>
            <a:custGeom>
              <a:avLst/>
              <a:gdLst/>
              <a:ahLst/>
              <a:cxnLst/>
              <a:rect r="r" b="b" t="t" l="l"/>
              <a:pathLst>
                <a:path h="1975104" w="741273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7095744" y="0"/>
                  </a:lnTo>
                  <a:cubicBezTo>
                    <a:pt x="7270750" y="0"/>
                    <a:pt x="7412736" y="141859"/>
                    <a:pt x="7412736" y="316992"/>
                  </a:cubicBezTo>
                  <a:lnTo>
                    <a:pt x="7412736" y="1658112"/>
                  </a:lnTo>
                  <a:cubicBezTo>
                    <a:pt x="7412736" y="1833118"/>
                    <a:pt x="7270876" y="1975104"/>
                    <a:pt x="7095744" y="1975104"/>
                  </a:cubicBezTo>
                  <a:lnTo>
                    <a:pt x="316992" y="1975104"/>
                  </a:lnTo>
                  <a:cubicBezTo>
                    <a:pt x="141859" y="1975104"/>
                    <a:pt x="0" y="1833245"/>
                    <a:pt x="0" y="1658112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024360" y="7232904"/>
            <a:ext cx="50292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INTERACTÚA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4360" y="7525512"/>
            <a:ext cx="50292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5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Tecnologías de la Información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24360" y="7918704"/>
            <a:ext cx="502920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Da soporte al ERP SAP ECC 6.0.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04320" y="8668512"/>
            <a:ext cx="555955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 spc="-44">
                <a:solidFill>
                  <a:srgbClr val="B8322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Canales Digitales no participa; por eso sus ventas no entran al pronóstico.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01 · La Organización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Proceso 1 abre la cadena de valor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6194" y="2186626"/>
            <a:ext cx="11445878" cy="6050918"/>
            <a:chOff x="0" y="0"/>
            <a:chExt cx="15261171" cy="80678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61210" cy="8067928"/>
            </a:xfrm>
            <a:custGeom>
              <a:avLst/>
              <a:gdLst/>
              <a:ahLst/>
              <a:cxnLst/>
              <a:rect r="r" b="b" t="t" l="l"/>
              <a:pathLst>
                <a:path h="8067928" w="15261210">
                  <a:moveTo>
                    <a:pt x="0" y="391160"/>
                  </a:moveTo>
                  <a:cubicBezTo>
                    <a:pt x="0" y="175133"/>
                    <a:pt x="175133" y="0"/>
                    <a:pt x="391160" y="0"/>
                  </a:cubicBezTo>
                  <a:lnTo>
                    <a:pt x="14870049" y="0"/>
                  </a:lnTo>
                  <a:cubicBezTo>
                    <a:pt x="15086076" y="0"/>
                    <a:pt x="15261210" y="175133"/>
                    <a:pt x="15261210" y="391160"/>
                  </a:cubicBezTo>
                  <a:lnTo>
                    <a:pt x="15261210" y="7676769"/>
                  </a:lnTo>
                  <a:cubicBezTo>
                    <a:pt x="15261210" y="7892796"/>
                    <a:pt x="15086076" y="8067928"/>
                    <a:pt x="14870049" y="8067928"/>
                  </a:cubicBezTo>
                  <a:lnTo>
                    <a:pt x="391160" y="8067928"/>
                  </a:lnTo>
                  <a:cubicBezTo>
                    <a:pt x="175133" y="8067928"/>
                    <a:pt x="0" y="7892796"/>
                    <a:pt x="0" y="7676769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008" y="2532574"/>
            <a:ext cx="11064240" cy="5359003"/>
            <a:chOff x="0" y="0"/>
            <a:chExt cx="14752320" cy="7145338"/>
          </a:xfrm>
        </p:grpSpPr>
        <p:sp>
          <p:nvSpPr>
            <p:cNvPr name="Freeform 11" id="11" descr="image-5-1.png"/>
            <p:cNvSpPr/>
            <p:nvPr/>
          </p:nvSpPr>
          <p:spPr>
            <a:xfrm flipH="false" flipV="false" rot="0">
              <a:off x="0" y="0"/>
              <a:ext cx="14752320" cy="7145401"/>
            </a:xfrm>
            <a:custGeom>
              <a:avLst/>
              <a:gdLst/>
              <a:ahLst/>
              <a:cxnLst/>
              <a:rect r="r" b="b" t="t" l="l"/>
              <a:pathLst>
                <a:path h="7145401" w="14752320">
                  <a:moveTo>
                    <a:pt x="0" y="0"/>
                  </a:moveTo>
                  <a:lnTo>
                    <a:pt x="14752320" y="0"/>
                  </a:lnTo>
                  <a:lnTo>
                    <a:pt x="14752320" y="7145401"/>
                  </a:lnTo>
                  <a:lnTo>
                    <a:pt x="0" y="7145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4128" y="8448675"/>
            <a:ext cx="114300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i="true" spc="-47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Es el primer eslabón: alimenta a Recepción e Inventarios y a Catálogo. Si compra mal, el error se arrastra hasta la cancelación del pedido.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47320" y="2194560"/>
            <a:ext cx="4416552" cy="2103120"/>
            <a:chOff x="0" y="0"/>
            <a:chExt cx="5888736" cy="2804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88736" cy="2804160"/>
            </a:xfrm>
            <a:custGeom>
              <a:avLst/>
              <a:gdLst/>
              <a:ahLst/>
              <a:cxnLst/>
              <a:rect r="r" b="b" t="t" l="l"/>
              <a:pathLst>
                <a:path h="2804160" w="5888736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5547360" y="0"/>
                  </a:lnTo>
                  <a:cubicBezTo>
                    <a:pt x="5735828" y="0"/>
                    <a:pt x="5888736" y="152781"/>
                    <a:pt x="5888736" y="341376"/>
                  </a:cubicBezTo>
                  <a:lnTo>
                    <a:pt x="5888736" y="2462784"/>
                  </a:lnTo>
                  <a:cubicBezTo>
                    <a:pt x="5888736" y="2651252"/>
                    <a:pt x="5735955" y="2804160"/>
                    <a:pt x="5547360" y="2804160"/>
                  </a:cubicBezTo>
                  <a:lnTo>
                    <a:pt x="341376" y="2804160"/>
                  </a:lnTo>
                  <a:cubicBezTo>
                    <a:pt x="152781" y="2804160"/>
                    <a:pt x="0" y="2651379"/>
                    <a:pt x="0" y="2462784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167360" y="2413635"/>
            <a:ext cx="384048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b="true" sz="4599" spc="-137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7360" y="3236595"/>
            <a:ext cx="38404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procesos core, según el “Flujo Operativo Integrado en NOVA” del caso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47320" y="4526280"/>
            <a:ext cx="4416552" cy="2103120"/>
            <a:chOff x="0" y="0"/>
            <a:chExt cx="5888736" cy="2804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88736" cy="2804160"/>
            </a:xfrm>
            <a:custGeom>
              <a:avLst/>
              <a:gdLst/>
              <a:ahLst/>
              <a:cxnLst/>
              <a:rect r="r" b="b" t="t" l="l"/>
              <a:pathLst>
                <a:path h="2804160" w="5888736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5547360" y="0"/>
                  </a:lnTo>
                  <a:cubicBezTo>
                    <a:pt x="5735828" y="0"/>
                    <a:pt x="5888736" y="152781"/>
                    <a:pt x="5888736" y="341376"/>
                  </a:cubicBezTo>
                  <a:lnTo>
                    <a:pt x="5888736" y="2462784"/>
                  </a:lnTo>
                  <a:cubicBezTo>
                    <a:pt x="5888736" y="2651252"/>
                    <a:pt x="5735955" y="2804160"/>
                    <a:pt x="5547360" y="2804160"/>
                  </a:cubicBezTo>
                  <a:lnTo>
                    <a:pt x="341376" y="2804160"/>
                  </a:lnTo>
                  <a:cubicBezTo>
                    <a:pt x="152781" y="2804160"/>
                    <a:pt x="0" y="2651379"/>
                    <a:pt x="0" y="2462784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167360" y="4745355"/>
            <a:ext cx="384048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b="true" sz="4599" spc="-137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67360" y="5568315"/>
            <a:ext cx="38404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procesos dependen directamente del Proceso 1: Recepción (2) y Catálogo (3)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847320" y="6858000"/>
            <a:ext cx="4416552" cy="2103120"/>
            <a:chOff x="0" y="0"/>
            <a:chExt cx="5888736" cy="2804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88736" cy="2804160"/>
            </a:xfrm>
            <a:custGeom>
              <a:avLst/>
              <a:gdLst/>
              <a:ahLst/>
              <a:cxnLst/>
              <a:rect r="r" b="b" t="t" l="l"/>
              <a:pathLst>
                <a:path h="2804160" w="5888736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5547360" y="0"/>
                  </a:lnTo>
                  <a:cubicBezTo>
                    <a:pt x="5735828" y="0"/>
                    <a:pt x="5888736" y="152781"/>
                    <a:pt x="5888736" y="341376"/>
                  </a:cubicBezTo>
                  <a:lnTo>
                    <a:pt x="5888736" y="2462784"/>
                  </a:lnTo>
                  <a:cubicBezTo>
                    <a:pt x="5888736" y="2651252"/>
                    <a:pt x="5735955" y="2804160"/>
                    <a:pt x="5547360" y="2804160"/>
                  </a:cubicBezTo>
                  <a:lnTo>
                    <a:pt x="341376" y="2804160"/>
                  </a:lnTo>
                  <a:cubicBezTo>
                    <a:pt x="152781" y="2804160"/>
                    <a:pt x="0" y="2651379"/>
                    <a:pt x="0" y="2462784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167360" y="7077075"/>
            <a:ext cx="384048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b="true" sz="4599" spc="-137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8.2%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67360" y="7900035"/>
            <a:ext cx="38404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de pedidos digitales se cancela por falta de stock al surtir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02 · Objeto de análisis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Planificación de Demanda y Compras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4128" y="2057400"/>
            <a:ext cx="1609344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56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Objetivo: </a:t>
            </a:r>
            <a:r>
              <a:rPr lang="en-US" sz="1899" spc="-56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asegurar la disponibilidad de mercancía en el CD y las tiendas mediante el pronóstico de la demanda y la emisión oportuna de Órdenes de Compra a proveedores.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4128" y="2971800"/>
            <a:ext cx="5199888" cy="3246120"/>
            <a:chOff x="0" y="0"/>
            <a:chExt cx="6933184" cy="4328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33184" cy="4328160"/>
            </a:xfrm>
            <a:custGeom>
              <a:avLst/>
              <a:gdLst/>
              <a:ahLst/>
              <a:cxnLst/>
              <a:rect r="r" b="b" t="t" l="l"/>
              <a:pathLst>
                <a:path h="4328160" w="693318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43040" y="0"/>
                  </a:lnTo>
                  <a:cubicBezTo>
                    <a:pt x="6758559" y="0"/>
                    <a:pt x="6933184" y="174625"/>
                    <a:pt x="6933184" y="390144"/>
                  </a:cubicBezTo>
                  <a:lnTo>
                    <a:pt x="6933184" y="3938016"/>
                  </a:lnTo>
                  <a:cubicBezTo>
                    <a:pt x="6933184" y="4153535"/>
                    <a:pt x="6758559" y="4328160"/>
                    <a:pt x="6543040" y="4328160"/>
                  </a:cubicBezTo>
                  <a:lnTo>
                    <a:pt x="390144" y="4328160"/>
                  </a:lnTo>
                  <a:cubicBezTo>
                    <a:pt x="174625" y="4328160"/>
                    <a:pt x="0" y="4153535"/>
                    <a:pt x="0" y="393801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89888" y="3200400"/>
            <a:ext cx="446836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Entradas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08176" y="3895344"/>
            <a:ext cx="128016" cy="128016"/>
            <a:chOff x="0" y="0"/>
            <a:chExt cx="170688" cy="1706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82496" y="3785235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Histórico de ventas del ERP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08176" y="4462272"/>
            <a:ext cx="128016" cy="128016"/>
            <a:chOff x="0" y="0"/>
            <a:chExt cx="170688" cy="170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82496" y="4352163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Factores de estacionalidad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08176" y="5029200"/>
            <a:ext cx="128016" cy="128016"/>
            <a:chOff x="0" y="0"/>
            <a:chExt cx="170688" cy="1706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82496" y="4919091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Catálogo de productos (SKU)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08176" y="5596128"/>
            <a:ext cx="128016" cy="128016"/>
            <a:chOff x="0" y="0"/>
            <a:chExt cx="170688" cy="1706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82496" y="5486019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Condiciones comerciales con proveedores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44056" y="2971800"/>
            <a:ext cx="5199888" cy="3246120"/>
            <a:chOff x="0" y="0"/>
            <a:chExt cx="6933184" cy="4328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33184" cy="4328160"/>
            </a:xfrm>
            <a:custGeom>
              <a:avLst/>
              <a:gdLst/>
              <a:ahLst/>
              <a:cxnLst/>
              <a:rect r="r" b="b" t="t" l="l"/>
              <a:pathLst>
                <a:path h="4328160" w="693318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43040" y="0"/>
                  </a:lnTo>
                  <a:cubicBezTo>
                    <a:pt x="6758559" y="0"/>
                    <a:pt x="6933184" y="174625"/>
                    <a:pt x="6933184" y="390144"/>
                  </a:cubicBezTo>
                  <a:lnTo>
                    <a:pt x="6933184" y="3938016"/>
                  </a:lnTo>
                  <a:cubicBezTo>
                    <a:pt x="6933184" y="4153535"/>
                    <a:pt x="6758559" y="4328160"/>
                    <a:pt x="6543040" y="4328160"/>
                  </a:cubicBezTo>
                  <a:lnTo>
                    <a:pt x="390144" y="4328160"/>
                  </a:lnTo>
                  <a:cubicBezTo>
                    <a:pt x="174625" y="4328160"/>
                    <a:pt x="0" y="4153535"/>
                    <a:pt x="0" y="3938016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909816" y="3200400"/>
            <a:ext cx="446836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Actores del proceso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928104" y="3895344"/>
            <a:ext cx="128016" cy="128016"/>
            <a:chOff x="0" y="0"/>
            <a:chExt cx="170688" cy="1706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202424" y="3785235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Analista de Planificación de Demanda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928104" y="4462272"/>
            <a:ext cx="128016" cy="128016"/>
            <a:chOff x="0" y="0"/>
            <a:chExt cx="170688" cy="1706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202424" y="4352163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Jefe de Categoría / Comprador Comercial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928104" y="5029200"/>
            <a:ext cx="128016" cy="128016"/>
            <a:chOff x="0" y="0"/>
            <a:chExt cx="170688" cy="1706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202424" y="4919091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Analista de Finanzas / Cuentas por Pagar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928104" y="5596128"/>
            <a:ext cx="128016" cy="128016"/>
            <a:chOff x="0" y="0"/>
            <a:chExt cx="170688" cy="1706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202424" y="5486019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Proveedor nacional e internacional (externo)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063984" y="2971800"/>
            <a:ext cx="5199888" cy="3246120"/>
            <a:chOff x="0" y="0"/>
            <a:chExt cx="6933184" cy="4328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33184" cy="4328160"/>
            </a:xfrm>
            <a:custGeom>
              <a:avLst/>
              <a:gdLst/>
              <a:ahLst/>
              <a:cxnLst/>
              <a:rect r="r" b="b" t="t" l="l"/>
              <a:pathLst>
                <a:path h="4328160" w="693318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43040" y="0"/>
                  </a:lnTo>
                  <a:cubicBezTo>
                    <a:pt x="6758559" y="0"/>
                    <a:pt x="6933184" y="174625"/>
                    <a:pt x="6933184" y="390144"/>
                  </a:cubicBezTo>
                  <a:lnTo>
                    <a:pt x="6933184" y="3938016"/>
                  </a:lnTo>
                  <a:cubicBezTo>
                    <a:pt x="6933184" y="4153535"/>
                    <a:pt x="6758559" y="4328160"/>
                    <a:pt x="6543040" y="4328160"/>
                  </a:cubicBezTo>
                  <a:lnTo>
                    <a:pt x="390144" y="4328160"/>
                  </a:lnTo>
                  <a:cubicBezTo>
                    <a:pt x="174625" y="4328160"/>
                    <a:pt x="0" y="4153535"/>
                    <a:pt x="0" y="393801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429744" y="3200400"/>
            <a:ext cx="446836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Salidas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448032" y="3895344"/>
            <a:ext cx="128016" cy="128016"/>
            <a:chOff x="0" y="0"/>
            <a:chExt cx="170688" cy="1706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722352" y="3785235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OC en estado “Pendiente de Recepción”, que inicia el Proceso 2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448032" y="4764024"/>
            <a:ext cx="128016" cy="128016"/>
            <a:chOff x="0" y="0"/>
            <a:chExt cx="170688" cy="1706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2722352" y="4653915"/>
            <a:ext cx="4194048" cy="57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Provisión contable del pago al proveedor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4128" y="6446520"/>
            <a:ext cx="73152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Reglas de negocio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16194" y="6941506"/>
            <a:ext cx="3870074" cy="2164718"/>
            <a:chOff x="0" y="0"/>
            <a:chExt cx="5160099" cy="28862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60010" cy="2886202"/>
            </a:xfrm>
            <a:custGeom>
              <a:avLst/>
              <a:gdLst/>
              <a:ahLst/>
              <a:cxnLst/>
              <a:rect r="r" b="b" t="t" l="l"/>
              <a:pathLst>
                <a:path h="2886202" w="5160010">
                  <a:moveTo>
                    <a:pt x="0" y="319278"/>
                  </a:moveTo>
                  <a:cubicBezTo>
                    <a:pt x="0" y="143002"/>
                    <a:pt x="143002" y="0"/>
                    <a:pt x="319278" y="0"/>
                  </a:cubicBezTo>
                  <a:lnTo>
                    <a:pt x="4840732" y="0"/>
                  </a:lnTo>
                  <a:cubicBezTo>
                    <a:pt x="5017135" y="0"/>
                    <a:pt x="5160010" y="143002"/>
                    <a:pt x="5160010" y="319278"/>
                  </a:cubicBezTo>
                  <a:lnTo>
                    <a:pt x="5160010" y="2566924"/>
                  </a:lnTo>
                  <a:cubicBezTo>
                    <a:pt x="5160010" y="2743327"/>
                    <a:pt x="5017008" y="2886202"/>
                    <a:pt x="4840732" y="2886202"/>
                  </a:cubicBezTo>
                  <a:lnTo>
                    <a:pt x="319278" y="2886202"/>
                  </a:lnTo>
                  <a:cubicBezTo>
                    <a:pt x="143002" y="2886329"/>
                    <a:pt x="0" y="2743327"/>
                    <a:pt x="0" y="2566924"/>
                  </a:cubicBezTo>
                  <a:close/>
                </a:path>
              </a:pathLst>
            </a:custGeom>
            <a:solidFill>
              <a:srgbClr val="EAF3EE"/>
            </a:solidFill>
            <a:ln w="15875" cap="sq">
              <a:solidFill>
                <a:srgbClr val="1F6E44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98448" y="7150608"/>
            <a:ext cx="1401956" cy="384048"/>
            <a:chOff x="0" y="0"/>
            <a:chExt cx="1869275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69313" cy="512064"/>
            </a:xfrm>
            <a:custGeom>
              <a:avLst/>
              <a:gdLst/>
              <a:ahLst/>
              <a:cxnLst/>
              <a:rect r="r" b="b" t="t" l="l"/>
              <a:pathLst>
                <a:path h="512064" w="1869313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613281" y="0"/>
                  </a:lnTo>
                  <a:cubicBezTo>
                    <a:pt x="1754632" y="0"/>
                    <a:pt x="1869313" y="114681"/>
                    <a:pt x="1869313" y="256032"/>
                  </a:cubicBezTo>
                  <a:cubicBezTo>
                    <a:pt x="1869313" y="397383"/>
                    <a:pt x="1754632" y="512064"/>
                    <a:pt x="1613281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869275" cy="51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SP1 · SP2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98448" y="7689723"/>
            <a:ext cx="3351276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Pronóstico mensual por categoría y SKU, solo con venta física de los últimos 30 días.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144710" y="6941506"/>
            <a:ext cx="3870074" cy="2164718"/>
            <a:chOff x="0" y="0"/>
            <a:chExt cx="5160099" cy="28862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60010" cy="2886202"/>
            </a:xfrm>
            <a:custGeom>
              <a:avLst/>
              <a:gdLst/>
              <a:ahLst/>
              <a:cxnLst/>
              <a:rect r="r" b="b" t="t" l="l"/>
              <a:pathLst>
                <a:path h="2886202" w="5160010">
                  <a:moveTo>
                    <a:pt x="0" y="319278"/>
                  </a:moveTo>
                  <a:cubicBezTo>
                    <a:pt x="0" y="143002"/>
                    <a:pt x="143002" y="0"/>
                    <a:pt x="319278" y="0"/>
                  </a:cubicBezTo>
                  <a:lnTo>
                    <a:pt x="4840732" y="0"/>
                  </a:lnTo>
                  <a:cubicBezTo>
                    <a:pt x="5017135" y="0"/>
                    <a:pt x="5160010" y="143002"/>
                    <a:pt x="5160010" y="319278"/>
                  </a:cubicBezTo>
                  <a:lnTo>
                    <a:pt x="5160010" y="2566924"/>
                  </a:lnTo>
                  <a:cubicBezTo>
                    <a:pt x="5160010" y="2743327"/>
                    <a:pt x="5017008" y="2886202"/>
                    <a:pt x="4840732" y="2886202"/>
                  </a:cubicBezTo>
                  <a:lnTo>
                    <a:pt x="319278" y="2886202"/>
                  </a:lnTo>
                  <a:cubicBezTo>
                    <a:pt x="143002" y="2886329"/>
                    <a:pt x="0" y="2743327"/>
                    <a:pt x="0" y="2566924"/>
                  </a:cubicBezTo>
                  <a:close/>
                </a:path>
              </a:pathLst>
            </a:custGeom>
            <a:solidFill>
              <a:srgbClr val="EAF3EE"/>
            </a:solidFill>
            <a:ln w="15875" cap="sq">
              <a:solidFill>
                <a:srgbClr val="1F6E4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5426964" y="7150608"/>
            <a:ext cx="772116" cy="384048"/>
            <a:chOff x="0" y="0"/>
            <a:chExt cx="1029487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9462" cy="512064"/>
            </a:xfrm>
            <a:custGeom>
              <a:avLst/>
              <a:gdLst/>
              <a:ahLst/>
              <a:cxnLst/>
              <a:rect r="r" b="b" t="t" l="l"/>
              <a:pathLst>
                <a:path h="512064" w="1029462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773430" y="0"/>
                  </a:lnTo>
                  <a:cubicBezTo>
                    <a:pt x="914908" y="0"/>
                    <a:pt x="1029462" y="114681"/>
                    <a:pt x="1029462" y="256032"/>
                  </a:cubicBezTo>
                  <a:cubicBezTo>
                    <a:pt x="1029462" y="397383"/>
                    <a:pt x="914908" y="512064"/>
                    <a:pt x="773430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029487" cy="51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SP3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5426964" y="7689723"/>
            <a:ext cx="3351276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Volumen, descuentos y plazos se negocian antes de emitir la OC.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273226" y="6941506"/>
            <a:ext cx="3870074" cy="2164718"/>
            <a:chOff x="0" y="0"/>
            <a:chExt cx="5160099" cy="28862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60010" cy="2886202"/>
            </a:xfrm>
            <a:custGeom>
              <a:avLst/>
              <a:gdLst/>
              <a:ahLst/>
              <a:cxnLst/>
              <a:rect r="r" b="b" t="t" l="l"/>
              <a:pathLst>
                <a:path h="2886202" w="5160010">
                  <a:moveTo>
                    <a:pt x="0" y="319278"/>
                  </a:moveTo>
                  <a:cubicBezTo>
                    <a:pt x="0" y="143002"/>
                    <a:pt x="143002" y="0"/>
                    <a:pt x="319278" y="0"/>
                  </a:cubicBezTo>
                  <a:lnTo>
                    <a:pt x="4840732" y="0"/>
                  </a:lnTo>
                  <a:cubicBezTo>
                    <a:pt x="5017135" y="0"/>
                    <a:pt x="5160010" y="143002"/>
                    <a:pt x="5160010" y="319278"/>
                  </a:cubicBezTo>
                  <a:lnTo>
                    <a:pt x="5160010" y="2566924"/>
                  </a:lnTo>
                  <a:cubicBezTo>
                    <a:pt x="5160010" y="2743327"/>
                    <a:pt x="5017008" y="2886202"/>
                    <a:pt x="4840732" y="2886202"/>
                  </a:cubicBezTo>
                  <a:lnTo>
                    <a:pt x="319278" y="2886202"/>
                  </a:lnTo>
                  <a:cubicBezTo>
                    <a:pt x="143002" y="2886329"/>
                    <a:pt x="0" y="2743327"/>
                    <a:pt x="0" y="2566924"/>
                  </a:cubicBezTo>
                  <a:close/>
                </a:path>
              </a:pathLst>
            </a:custGeom>
            <a:solidFill>
              <a:srgbClr val="EAF3EE"/>
            </a:solidFill>
            <a:ln w="15875" cap="sq">
              <a:solidFill>
                <a:srgbClr val="1F6E4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555480" y="7150608"/>
            <a:ext cx="772116" cy="384048"/>
            <a:chOff x="0" y="0"/>
            <a:chExt cx="1029487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9462" cy="512064"/>
            </a:xfrm>
            <a:custGeom>
              <a:avLst/>
              <a:gdLst/>
              <a:ahLst/>
              <a:cxnLst/>
              <a:rect r="r" b="b" t="t" l="l"/>
              <a:pathLst>
                <a:path h="512064" w="1029462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773430" y="0"/>
                  </a:lnTo>
                  <a:cubicBezTo>
                    <a:pt x="914908" y="0"/>
                    <a:pt x="1029462" y="114681"/>
                    <a:pt x="1029462" y="256032"/>
                  </a:cubicBezTo>
                  <a:cubicBezTo>
                    <a:pt x="1029462" y="397383"/>
                    <a:pt x="914908" y="512064"/>
                    <a:pt x="773430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029487" cy="51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SP6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555480" y="7689723"/>
            <a:ext cx="3351276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Toda OC requiere confirmación del proveedor con fecha comprometida.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3401742" y="6941506"/>
            <a:ext cx="3870074" cy="2164718"/>
            <a:chOff x="0" y="0"/>
            <a:chExt cx="5160099" cy="28862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60010" cy="2886202"/>
            </a:xfrm>
            <a:custGeom>
              <a:avLst/>
              <a:gdLst/>
              <a:ahLst/>
              <a:cxnLst/>
              <a:rect r="r" b="b" t="t" l="l"/>
              <a:pathLst>
                <a:path h="2886202" w="5160010">
                  <a:moveTo>
                    <a:pt x="0" y="319278"/>
                  </a:moveTo>
                  <a:cubicBezTo>
                    <a:pt x="0" y="143002"/>
                    <a:pt x="143002" y="0"/>
                    <a:pt x="319278" y="0"/>
                  </a:cubicBezTo>
                  <a:lnTo>
                    <a:pt x="4840732" y="0"/>
                  </a:lnTo>
                  <a:cubicBezTo>
                    <a:pt x="5017135" y="0"/>
                    <a:pt x="5160010" y="143002"/>
                    <a:pt x="5160010" y="319278"/>
                  </a:cubicBezTo>
                  <a:lnTo>
                    <a:pt x="5160010" y="2566924"/>
                  </a:lnTo>
                  <a:cubicBezTo>
                    <a:pt x="5160010" y="2743327"/>
                    <a:pt x="5017008" y="2886202"/>
                    <a:pt x="4840732" y="2886202"/>
                  </a:cubicBezTo>
                  <a:lnTo>
                    <a:pt x="319278" y="2886202"/>
                  </a:lnTo>
                  <a:cubicBezTo>
                    <a:pt x="143002" y="2886329"/>
                    <a:pt x="0" y="2743327"/>
                    <a:pt x="0" y="2566924"/>
                  </a:cubicBezTo>
                  <a:close/>
                </a:path>
              </a:pathLst>
            </a:custGeom>
            <a:solidFill>
              <a:srgbClr val="EAF3EE"/>
            </a:solidFill>
            <a:ln w="15875" cap="sq">
              <a:solidFill>
                <a:srgbClr val="1F6E44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3683996" y="7150608"/>
            <a:ext cx="772116" cy="384048"/>
            <a:chOff x="0" y="0"/>
            <a:chExt cx="1029487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9462" cy="512064"/>
            </a:xfrm>
            <a:custGeom>
              <a:avLst/>
              <a:gdLst/>
              <a:ahLst/>
              <a:cxnLst/>
              <a:rect r="r" b="b" t="t" l="l"/>
              <a:pathLst>
                <a:path h="512064" w="1029462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773430" y="0"/>
                  </a:lnTo>
                  <a:cubicBezTo>
                    <a:pt x="914908" y="0"/>
                    <a:pt x="1029462" y="114681"/>
                    <a:pt x="1029462" y="256032"/>
                  </a:cubicBezTo>
                  <a:cubicBezTo>
                    <a:pt x="1029462" y="397383"/>
                    <a:pt x="914908" y="512064"/>
                    <a:pt x="773430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029487" cy="51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SP7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3683996" y="7689723"/>
            <a:ext cx="3351276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proceso termina cuando la OC queda “Pendiente de Recepción”.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02 · Objeto de análisis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Flujograma AS-IS en BPMN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6194" y="2095186"/>
            <a:ext cx="16255622" cy="5456558"/>
            <a:chOff x="0" y="0"/>
            <a:chExt cx="21674163" cy="72754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74201" cy="7275449"/>
            </a:xfrm>
            <a:custGeom>
              <a:avLst/>
              <a:gdLst/>
              <a:ahLst/>
              <a:cxnLst/>
              <a:rect r="r" b="b" t="t" l="l"/>
              <a:pathLst>
                <a:path h="7275449" w="21674201">
                  <a:moveTo>
                    <a:pt x="0" y="391287"/>
                  </a:moveTo>
                  <a:cubicBezTo>
                    <a:pt x="0" y="175133"/>
                    <a:pt x="175133" y="0"/>
                    <a:pt x="391287" y="0"/>
                  </a:cubicBezTo>
                  <a:lnTo>
                    <a:pt x="21282913" y="0"/>
                  </a:lnTo>
                  <a:cubicBezTo>
                    <a:pt x="21499068" y="0"/>
                    <a:pt x="21674201" y="175133"/>
                    <a:pt x="21674201" y="391287"/>
                  </a:cubicBezTo>
                  <a:lnTo>
                    <a:pt x="21674201" y="6884162"/>
                  </a:lnTo>
                  <a:cubicBezTo>
                    <a:pt x="21674201" y="7100316"/>
                    <a:pt x="21499068" y="7275449"/>
                    <a:pt x="21282913" y="7275449"/>
                  </a:cubicBezTo>
                  <a:lnTo>
                    <a:pt x="391287" y="7275449"/>
                  </a:lnTo>
                  <a:cubicBezTo>
                    <a:pt x="175133" y="7275449"/>
                    <a:pt x="0" y="7100189"/>
                    <a:pt x="0" y="6884162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1969379"/>
            <a:ext cx="15819120" cy="5708171"/>
            <a:chOff x="0" y="0"/>
            <a:chExt cx="21092160" cy="7610894"/>
          </a:xfrm>
        </p:grpSpPr>
        <p:sp>
          <p:nvSpPr>
            <p:cNvPr name="Freeform 11" id="11" descr="image-7-1.png"/>
            <p:cNvSpPr/>
            <p:nvPr/>
          </p:nvSpPr>
          <p:spPr>
            <a:xfrm flipH="false" flipV="false" rot="0">
              <a:off x="0" y="0"/>
              <a:ext cx="21092161" cy="7610856"/>
            </a:xfrm>
            <a:custGeom>
              <a:avLst/>
              <a:gdLst/>
              <a:ahLst/>
              <a:cxnLst/>
              <a:rect r="r" b="b" t="t" l="l"/>
              <a:pathLst>
                <a:path h="7610856" w="21092161">
                  <a:moveTo>
                    <a:pt x="0" y="0"/>
                  </a:moveTo>
                  <a:lnTo>
                    <a:pt x="21092161" y="0"/>
                  </a:lnTo>
                  <a:lnTo>
                    <a:pt x="21092161" y="7610856"/>
                  </a:lnTo>
                  <a:lnTo>
                    <a:pt x="0" y="7610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4128" y="7772400"/>
            <a:ext cx="5199888" cy="1417320"/>
            <a:chOff x="0" y="0"/>
            <a:chExt cx="6933184" cy="1889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33184" cy="1889760"/>
            </a:xfrm>
            <a:custGeom>
              <a:avLst/>
              <a:gdLst/>
              <a:ahLst/>
              <a:cxnLst/>
              <a:rect r="r" b="b" t="t" l="l"/>
              <a:pathLst>
                <a:path h="1889760" w="69331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616192" y="0"/>
                  </a:lnTo>
                  <a:cubicBezTo>
                    <a:pt x="6791198" y="0"/>
                    <a:pt x="6933184" y="141859"/>
                    <a:pt x="6933184" y="316992"/>
                  </a:cubicBezTo>
                  <a:lnTo>
                    <a:pt x="6933184" y="1572768"/>
                  </a:lnTo>
                  <a:cubicBezTo>
                    <a:pt x="6933184" y="1747774"/>
                    <a:pt x="6791325" y="1889760"/>
                    <a:pt x="6616192" y="1889760"/>
                  </a:cubicBezTo>
                  <a:lnTo>
                    <a:pt x="316992" y="1889760"/>
                  </a:lnTo>
                  <a:cubicBezTo>
                    <a:pt x="141859" y="1889760"/>
                    <a:pt x="0" y="1747901"/>
                    <a:pt x="0" y="1572768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4168" y="7936992"/>
            <a:ext cx="46512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Inicio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4168" y="8339328"/>
            <a:ext cx="465124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Evento temporizador: cada ciclo mensual de planificación.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44056" y="7772400"/>
            <a:ext cx="5199888" cy="1417320"/>
            <a:chOff x="0" y="0"/>
            <a:chExt cx="6933184" cy="1889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33184" cy="1889760"/>
            </a:xfrm>
            <a:custGeom>
              <a:avLst/>
              <a:gdLst/>
              <a:ahLst/>
              <a:cxnLst/>
              <a:rect r="r" b="b" t="t" l="l"/>
              <a:pathLst>
                <a:path h="1889760" w="69331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616192" y="0"/>
                  </a:lnTo>
                  <a:cubicBezTo>
                    <a:pt x="6791198" y="0"/>
                    <a:pt x="6933184" y="141859"/>
                    <a:pt x="6933184" y="316992"/>
                  </a:cubicBezTo>
                  <a:lnTo>
                    <a:pt x="6933184" y="1572768"/>
                  </a:lnTo>
                  <a:cubicBezTo>
                    <a:pt x="6933184" y="1747774"/>
                    <a:pt x="6791325" y="1889760"/>
                    <a:pt x="6616192" y="1889760"/>
                  </a:cubicBezTo>
                  <a:lnTo>
                    <a:pt x="316992" y="1889760"/>
                  </a:lnTo>
                  <a:cubicBezTo>
                    <a:pt x="141859" y="1889760"/>
                    <a:pt x="0" y="1747901"/>
                    <a:pt x="0" y="1572768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64096" y="7936992"/>
            <a:ext cx="46512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¿Producto nuevo?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4096" y="8339328"/>
            <a:ext cx="465124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Compuerta: SP4 (alta del SKU) solo se ejecuta si se compra un producto nuevo.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63984" y="7772400"/>
            <a:ext cx="5199888" cy="1417320"/>
            <a:chOff x="0" y="0"/>
            <a:chExt cx="6933184" cy="1889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33184" cy="1889760"/>
            </a:xfrm>
            <a:custGeom>
              <a:avLst/>
              <a:gdLst/>
              <a:ahLst/>
              <a:cxnLst/>
              <a:rect r="r" b="b" t="t" l="l"/>
              <a:pathLst>
                <a:path h="1889760" w="69331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616192" y="0"/>
                  </a:lnTo>
                  <a:cubicBezTo>
                    <a:pt x="6791198" y="0"/>
                    <a:pt x="6933184" y="141859"/>
                    <a:pt x="6933184" y="316992"/>
                  </a:cubicBezTo>
                  <a:lnTo>
                    <a:pt x="6933184" y="1572768"/>
                  </a:lnTo>
                  <a:cubicBezTo>
                    <a:pt x="6933184" y="1747774"/>
                    <a:pt x="6791325" y="1889760"/>
                    <a:pt x="6616192" y="1889760"/>
                  </a:cubicBezTo>
                  <a:lnTo>
                    <a:pt x="316992" y="1889760"/>
                  </a:lnTo>
                  <a:cubicBezTo>
                    <a:pt x="141859" y="1889760"/>
                    <a:pt x="0" y="1747901"/>
                    <a:pt x="0" y="1572768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384024" y="7936992"/>
            <a:ext cx="46512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84024" y="8339328"/>
            <a:ext cx="465124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OC “Pendiente de Recepción”: inicia el Proceso 2, a cargo del Grupo 2.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03 · Problemas y nuevas necesidades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Tres problemas frenan el proceso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4128" y="2194560"/>
            <a:ext cx="5169408" cy="6858000"/>
            <a:chOff x="0" y="0"/>
            <a:chExt cx="6892544" cy="9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92544" cy="9144000"/>
            </a:xfrm>
            <a:custGeom>
              <a:avLst/>
              <a:gdLst/>
              <a:ahLst/>
              <a:cxnLst/>
              <a:rect r="r" b="b" t="t" l="l"/>
              <a:pathLst>
                <a:path h="9144000" w="689254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02400" y="0"/>
                  </a:lnTo>
                  <a:cubicBezTo>
                    <a:pt x="6717919" y="0"/>
                    <a:pt x="6892544" y="174625"/>
                    <a:pt x="6892544" y="390144"/>
                  </a:cubicBezTo>
                  <a:lnTo>
                    <a:pt x="6892544" y="8753856"/>
                  </a:lnTo>
                  <a:cubicBezTo>
                    <a:pt x="6892544" y="8969375"/>
                    <a:pt x="6717919" y="9144000"/>
                    <a:pt x="6502400" y="9144000"/>
                  </a:cubicBezTo>
                  <a:lnTo>
                    <a:pt x="390144" y="9144000"/>
                  </a:lnTo>
                  <a:cubicBezTo>
                    <a:pt x="174625" y="9144000"/>
                    <a:pt x="0" y="8969375"/>
                    <a:pt x="0" y="875385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5608" y="2560320"/>
            <a:ext cx="43464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 DE TI ·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5608" y="296227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 spc="-168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14.5%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5608" y="3968115"/>
            <a:ext cx="4346448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de quiebre de stock digital (meta: menos de 2.0%)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5608" y="4892040"/>
            <a:ext cx="434644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Pronóstico de demanda incompleto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5608" y="5924550"/>
            <a:ext cx="4346448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 spc="-51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pronóstico mensual se arma en Excel solo con ventas físicas de hace 30 días. No ve e-commerce, app ni marketplace.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35608" y="8275320"/>
            <a:ext cx="868680" cy="402336"/>
            <a:chOff x="0" y="0"/>
            <a:chExt cx="1158240" cy="5364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115824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890016" y="0"/>
                  </a:lnTo>
                  <a:cubicBezTo>
                    <a:pt x="1038098" y="0"/>
                    <a:pt x="1158240" y="120142"/>
                    <a:pt x="1158240" y="268224"/>
                  </a:cubicBezTo>
                  <a:cubicBezTo>
                    <a:pt x="1158240" y="416306"/>
                    <a:pt x="1038098" y="536448"/>
                    <a:pt x="89001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5824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41448" y="8275320"/>
            <a:ext cx="868680" cy="402336"/>
            <a:chOff x="0" y="0"/>
            <a:chExt cx="115824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115824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890016" y="0"/>
                  </a:lnTo>
                  <a:cubicBezTo>
                    <a:pt x="1038098" y="0"/>
                    <a:pt x="1158240" y="120142"/>
                    <a:pt x="1158240" y="268224"/>
                  </a:cubicBezTo>
                  <a:cubicBezTo>
                    <a:pt x="1158240" y="416306"/>
                    <a:pt x="1038098" y="536448"/>
                    <a:pt x="89001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5824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59296" y="2194560"/>
            <a:ext cx="5169408" cy="6858000"/>
            <a:chOff x="0" y="0"/>
            <a:chExt cx="6892544" cy="914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92544" cy="9144000"/>
            </a:xfrm>
            <a:custGeom>
              <a:avLst/>
              <a:gdLst/>
              <a:ahLst/>
              <a:cxnLst/>
              <a:rect r="r" b="b" t="t" l="l"/>
              <a:pathLst>
                <a:path h="9144000" w="689254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02400" y="0"/>
                  </a:lnTo>
                  <a:cubicBezTo>
                    <a:pt x="6717919" y="0"/>
                    <a:pt x="6892544" y="174625"/>
                    <a:pt x="6892544" y="390144"/>
                  </a:cubicBezTo>
                  <a:lnTo>
                    <a:pt x="6892544" y="8753856"/>
                  </a:lnTo>
                  <a:cubicBezTo>
                    <a:pt x="6892544" y="8969375"/>
                    <a:pt x="6717919" y="9144000"/>
                    <a:pt x="6502400" y="9144000"/>
                  </a:cubicBezTo>
                  <a:lnTo>
                    <a:pt x="390144" y="9144000"/>
                  </a:lnTo>
                  <a:cubicBezTo>
                    <a:pt x="174625" y="9144000"/>
                    <a:pt x="0" y="8969375"/>
                    <a:pt x="0" y="8753856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70776" y="2560320"/>
            <a:ext cx="43464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 DE NEGOCIO · PROCESO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70776" y="296227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 spc="-168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 días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70776" y="3968115"/>
            <a:ext cx="4346448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de demora máxima en emitir una OC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70776" y="4892040"/>
            <a:ext cx="434644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Demoras en la aprobación y emisión de OC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70776" y="5924550"/>
            <a:ext cx="4346448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 spc="-51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Las aprobaciones y la confirmación del proveedor se gestionan por correo, sin etapas ni plazos definidos.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970776" y="8275320"/>
            <a:ext cx="868680" cy="402336"/>
            <a:chOff x="0" y="0"/>
            <a:chExt cx="1158240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115824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890016" y="0"/>
                  </a:lnTo>
                  <a:cubicBezTo>
                    <a:pt x="1038098" y="0"/>
                    <a:pt x="1158240" y="120142"/>
                    <a:pt x="1158240" y="268224"/>
                  </a:cubicBezTo>
                  <a:cubicBezTo>
                    <a:pt x="1158240" y="416306"/>
                    <a:pt x="1038098" y="536448"/>
                    <a:pt x="89001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15824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976616" y="8275320"/>
            <a:ext cx="868680" cy="402336"/>
            <a:chOff x="0" y="0"/>
            <a:chExt cx="1158240" cy="5364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115824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890016" y="0"/>
                  </a:lnTo>
                  <a:cubicBezTo>
                    <a:pt x="1038098" y="0"/>
                    <a:pt x="1158240" y="120142"/>
                    <a:pt x="1158240" y="268224"/>
                  </a:cubicBezTo>
                  <a:cubicBezTo>
                    <a:pt x="1158240" y="416306"/>
                    <a:pt x="1038098" y="536448"/>
                    <a:pt x="89001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15824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94464" y="2194560"/>
            <a:ext cx="5169408" cy="6858000"/>
            <a:chOff x="0" y="0"/>
            <a:chExt cx="6892544" cy="914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92544" cy="9144000"/>
            </a:xfrm>
            <a:custGeom>
              <a:avLst/>
              <a:gdLst/>
              <a:ahLst/>
              <a:cxnLst/>
              <a:rect r="r" b="b" t="t" l="l"/>
              <a:pathLst>
                <a:path h="9144000" w="689254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02400" y="0"/>
                  </a:lnTo>
                  <a:cubicBezTo>
                    <a:pt x="6717919" y="0"/>
                    <a:pt x="6892544" y="174625"/>
                    <a:pt x="6892544" y="390144"/>
                  </a:cubicBezTo>
                  <a:lnTo>
                    <a:pt x="6892544" y="8753856"/>
                  </a:lnTo>
                  <a:cubicBezTo>
                    <a:pt x="6892544" y="8969375"/>
                    <a:pt x="6717919" y="9144000"/>
                    <a:pt x="6502400" y="9144000"/>
                  </a:cubicBezTo>
                  <a:lnTo>
                    <a:pt x="390144" y="9144000"/>
                  </a:lnTo>
                  <a:cubicBezTo>
                    <a:pt x="174625" y="9144000"/>
                    <a:pt x="0" y="8969375"/>
                    <a:pt x="0" y="875385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505944" y="2560320"/>
            <a:ext cx="43464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 DE TI · DATOS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05944" y="296227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 spc="-168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&gt;60%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05944" y="3968115"/>
            <a:ext cx="4346448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de vacíos en campos críticos del maestro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05944" y="4892040"/>
            <a:ext cx="434644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Datos maestros de baja calidad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05944" y="5924550"/>
            <a:ext cx="4346448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 spc="-51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SKU del ERP no coincide con códigos de barra de proveedores y un mismo producto se cataloga de tres formas.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505944" y="8275320"/>
            <a:ext cx="868680" cy="402336"/>
            <a:chOff x="0" y="0"/>
            <a:chExt cx="115824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5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1158240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890016" y="0"/>
                  </a:lnTo>
                  <a:cubicBezTo>
                    <a:pt x="1038098" y="0"/>
                    <a:pt x="1158240" y="120142"/>
                    <a:pt x="1158240" y="268224"/>
                  </a:cubicBezTo>
                  <a:cubicBezTo>
                    <a:pt x="1158240" y="416306"/>
                    <a:pt x="1038098" y="536448"/>
                    <a:pt x="890016" y="536448"/>
                  </a:cubicBezTo>
                  <a:lnTo>
                    <a:pt x="268224" y="536448"/>
                  </a:ln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158240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03 · Problemas y nuevas necesidades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Tres nuevas necesidades del sector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13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4128" y="2194560"/>
            <a:ext cx="16239744" cy="2103120"/>
            <a:chOff x="0" y="0"/>
            <a:chExt cx="21652992" cy="2804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52992" cy="2804160"/>
            </a:xfrm>
            <a:custGeom>
              <a:avLst/>
              <a:gdLst/>
              <a:ahLst/>
              <a:cxnLst/>
              <a:rect r="r" b="b" t="t" l="l"/>
              <a:pathLst>
                <a:path h="2804160" w="21652992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21262848" y="0"/>
                  </a:lnTo>
                  <a:cubicBezTo>
                    <a:pt x="21478367" y="0"/>
                    <a:pt x="21652992" y="174625"/>
                    <a:pt x="21652992" y="390144"/>
                  </a:cubicBezTo>
                  <a:lnTo>
                    <a:pt x="21652992" y="2414016"/>
                  </a:lnTo>
                  <a:cubicBezTo>
                    <a:pt x="21652992" y="2629535"/>
                    <a:pt x="21478367" y="2804160"/>
                    <a:pt x="21262848" y="2804160"/>
                  </a:cubicBezTo>
                  <a:lnTo>
                    <a:pt x="390144" y="2804160"/>
                  </a:lnTo>
                  <a:cubicBezTo>
                    <a:pt x="174625" y="2804160"/>
                    <a:pt x="0" y="2629535"/>
                    <a:pt x="0" y="241401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17320" y="2743200"/>
            <a:ext cx="1005840" cy="1005840"/>
            <a:chOff x="0" y="0"/>
            <a:chExt cx="134112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68780" y="2994660"/>
            <a:ext cx="502920" cy="502920"/>
            <a:chOff x="0" y="0"/>
            <a:chExt cx="670560" cy="670560"/>
          </a:xfrm>
        </p:grpSpPr>
        <p:sp>
          <p:nvSpPr>
            <p:cNvPr name="Freeform 13" id="13" descr="image-9-1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788920" y="2477643"/>
            <a:ext cx="67665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Demand sensing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88920" y="3053715"/>
            <a:ext cx="67665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Ajusta a diario el pronóstico base con señales recientes de todos los canales: ventas, pedidos abiertos y promociones.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9800" y="2468880"/>
            <a:ext cx="256032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−25%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29800" y="3291840"/>
            <a:ext cx="329184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error de pronóstico en el piloto de Unilever (Folinas y Rabi, 2012)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78840" y="2697480"/>
            <a:ext cx="32918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i="true" spc="-42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Responde 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78840" y="3108960"/>
            <a:ext cx="3291840" cy="420624"/>
            <a:chOff x="0" y="0"/>
            <a:chExt cx="4389120" cy="5608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9120" cy="560832"/>
            </a:xfrm>
            <a:custGeom>
              <a:avLst/>
              <a:gdLst/>
              <a:ahLst/>
              <a:cxnLst/>
              <a:rect r="r" b="b" t="t" l="l"/>
              <a:pathLst>
                <a:path h="560832" w="4389120">
                  <a:moveTo>
                    <a:pt x="0" y="280416"/>
                  </a:moveTo>
                  <a:cubicBezTo>
                    <a:pt x="0" y="125603"/>
                    <a:pt x="125603" y="0"/>
                    <a:pt x="280416" y="0"/>
                  </a:cubicBezTo>
                  <a:lnTo>
                    <a:pt x="4108704" y="0"/>
                  </a:lnTo>
                  <a:cubicBezTo>
                    <a:pt x="4263517" y="0"/>
                    <a:pt x="4389120" y="125603"/>
                    <a:pt x="4389120" y="280416"/>
                  </a:cubicBezTo>
                  <a:cubicBezTo>
                    <a:pt x="4389120" y="435229"/>
                    <a:pt x="4263517" y="560832"/>
                    <a:pt x="4108704" y="560832"/>
                  </a:cubicBezTo>
                  <a:lnTo>
                    <a:pt x="280416" y="560832"/>
                  </a:lnTo>
                  <a:cubicBezTo>
                    <a:pt x="125603" y="560832"/>
                    <a:pt x="0" y="435229"/>
                    <a:pt x="0" y="280416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389120" cy="560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Problema 1 · SP2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4128" y="4526280"/>
            <a:ext cx="16239744" cy="2103120"/>
            <a:chOff x="0" y="0"/>
            <a:chExt cx="21652992" cy="2804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52992" cy="2804160"/>
            </a:xfrm>
            <a:custGeom>
              <a:avLst/>
              <a:gdLst/>
              <a:ahLst/>
              <a:cxnLst/>
              <a:rect r="r" b="b" t="t" l="l"/>
              <a:pathLst>
                <a:path h="2804160" w="21652992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21262848" y="0"/>
                  </a:lnTo>
                  <a:cubicBezTo>
                    <a:pt x="21478367" y="0"/>
                    <a:pt x="21652992" y="174625"/>
                    <a:pt x="21652992" y="390144"/>
                  </a:cubicBezTo>
                  <a:lnTo>
                    <a:pt x="21652992" y="2414016"/>
                  </a:lnTo>
                  <a:cubicBezTo>
                    <a:pt x="21652992" y="2629535"/>
                    <a:pt x="21478367" y="2804160"/>
                    <a:pt x="21262848" y="2804160"/>
                  </a:cubicBezTo>
                  <a:lnTo>
                    <a:pt x="390144" y="2804160"/>
                  </a:lnTo>
                  <a:cubicBezTo>
                    <a:pt x="174625" y="2804160"/>
                    <a:pt x="0" y="2629535"/>
                    <a:pt x="0" y="2414016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17320" y="5074920"/>
            <a:ext cx="1005840" cy="1005840"/>
            <a:chOff x="0" y="0"/>
            <a:chExt cx="134112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8780" y="5326380"/>
            <a:ext cx="502920" cy="502920"/>
            <a:chOff x="0" y="0"/>
            <a:chExt cx="670560" cy="670560"/>
          </a:xfrm>
        </p:grpSpPr>
        <p:sp>
          <p:nvSpPr>
            <p:cNvPr name="Freeform 27" id="27" descr="image-9-2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788920" y="4809363"/>
            <a:ext cx="67665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Planificación colaborativa con proveedores (CPFR)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88920" y="5385435"/>
            <a:ext cx="67665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NOVA y sus proveedores clave comparten pronósticos y planifican juntos el reabastecimiento.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29800" y="4800600"/>
            <a:ext cx="256032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10–40%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29800" y="5623560"/>
            <a:ext cx="329184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menos inventario en minoristas (AMR Research, en Sheffi, 2002)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78840" y="5029200"/>
            <a:ext cx="32918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i="true" spc="-42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Responde 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578840" y="5440680"/>
            <a:ext cx="3291840" cy="420624"/>
            <a:chOff x="0" y="0"/>
            <a:chExt cx="4389120" cy="5608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89120" cy="560832"/>
            </a:xfrm>
            <a:custGeom>
              <a:avLst/>
              <a:gdLst/>
              <a:ahLst/>
              <a:cxnLst/>
              <a:rect r="r" b="b" t="t" l="l"/>
              <a:pathLst>
                <a:path h="560832" w="4389120">
                  <a:moveTo>
                    <a:pt x="0" y="280416"/>
                  </a:moveTo>
                  <a:cubicBezTo>
                    <a:pt x="0" y="125603"/>
                    <a:pt x="125603" y="0"/>
                    <a:pt x="280416" y="0"/>
                  </a:cubicBezTo>
                  <a:lnTo>
                    <a:pt x="4108704" y="0"/>
                  </a:lnTo>
                  <a:cubicBezTo>
                    <a:pt x="4263517" y="0"/>
                    <a:pt x="4389120" y="125603"/>
                    <a:pt x="4389120" y="280416"/>
                  </a:cubicBezTo>
                  <a:cubicBezTo>
                    <a:pt x="4389120" y="435229"/>
                    <a:pt x="4263517" y="560832"/>
                    <a:pt x="4108704" y="560832"/>
                  </a:cubicBezTo>
                  <a:lnTo>
                    <a:pt x="280416" y="560832"/>
                  </a:lnTo>
                  <a:cubicBezTo>
                    <a:pt x="125603" y="560832"/>
                    <a:pt x="0" y="435229"/>
                    <a:pt x="0" y="280416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389120" cy="560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Problema 2 · SP3, SP6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4128" y="6858000"/>
            <a:ext cx="16239744" cy="2103120"/>
            <a:chOff x="0" y="0"/>
            <a:chExt cx="21652992" cy="2804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652992" cy="2804160"/>
            </a:xfrm>
            <a:custGeom>
              <a:avLst/>
              <a:gdLst/>
              <a:ahLst/>
              <a:cxnLst/>
              <a:rect r="r" b="b" t="t" l="l"/>
              <a:pathLst>
                <a:path h="2804160" w="21652992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21262848" y="0"/>
                  </a:lnTo>
                  <a:cubicBezTo>
                    <a:pt x="21478367" y="0"/>
                    <a:pt x="21652992" y="174625"/>
                    <a:pt x="21652992" y="390144"/>
                  </a:cubicBezTo>
                  <a:lnTo>
                    <a:pt x="21652992" y="2414016"/>
                  </a:lnTo>
                  <a:cubicBezTo>
                    <a:pt x="21652992" y="2629535"/>
                    <a:pt x="21478367" y="2804160"/>
                    <a:pt x="21262848" y="2804160"/>
                  </a:cubicBezTo>
                  <a:lnTo>
                    <a:pt x="390144" y="2804160"/>
                  </a:lnTo>
                  <a:cubicBezTo>
                    <a:pt x="174625" y="2804160"/>
                    <a:pt x="0" y="2629535"/>
                    <a:pt x="0" y="241401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17320" y="7406640"/>
            <a:ext cx="1005840" cy="1005840"/>
            <a:chOff x="0" y="0"/>
            <a:chExt cx="134112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68780" y="7658100"/>
            <a:ext cx="502920" cy="502920"/>
            <a:chOff x="0" y="0"/>
            <a:chExt cx="670560" cy="670560"/>
          </a:xfrm>
        </p:grpSpPr>
        <p:sp>
          <p:nvSpPr>
            <p:cNvPr name="Freeform 41" id="41" descr="image-9-3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2788920" y="7141083"/>
            <a:ext cx="67665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Información de Productos (PIM)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788920" y="7717155"/>
            <a:ext cx="67665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Una sola fuente de verdad para la información de cada producto, publicada a todos los canales.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29800" y="7132320"/>
            <a:ext cx="256032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−29%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829800" y="7955280"/>
            <a:ext cx="329184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tiempo de lanzamiento de productos (Inriver, 2026)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78840" y="7360920"/>
            <a:ext cx="32918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i="true" spc="-42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Responde a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578840" y="7772400"/>
            <a:ext cx="3291840" cy="420624"/>
            <a:chOff x="0" y="0"/>
            <a:chExt cx="4389120" cy="5608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0" cy="560832"/>
            </a:xfrm>
            <a:custGeom>
              <a:avLst/>
              <a:gdLst/>
              <a:ahLst/>
              <a:cxnLst/>
              <a:rect r="r" b="b" t="t" l="l"/>
              <a:pathLst>
                <a:path h="560832" w="4389120">
                  <a:moveTo>
                    <a:pt x="0" y="280416"/>
                  </a:moveTo>
                  <a:cubicBezTo>
                    <a:pt x="0" y="125603"/>
                    <a:pt x="125603" y="0"/>
                    <a:pt x="280416" y="0"/>
                  </a:cubicBezTo>
                  <a:lnTo>
                    <a:pt x="4108704" y="0"/>
                  </a:lnTo>
                  <a:cubicBezTo>
                    <a:pt x="4263517" y="0"/>
                    <a:pt x="4389120" y="125603"/>
                    <a:pt x="4389120" y="280416"/>
                  </a:cubicBezTo>
                  <a:cubicBezTo>
                    <a:pt x="4389120" y="435229"/>
                    <a:pt x="4263517" y="560832"/>
                    <a:pt x="4108704" y="560832"/>
                  </a:cubicBezTo>
                  <a:lnTo>
                    <a:pt x="280416" y="560832"/>
                  </a:lnTo>
                  <a:cubicBezTo>
                    <a:pt x="125603" y="560832"/>
                    <a:pt x="0" y="435229"/>
                    <a:pt x="0" y="280416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389120" cy="560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b="true" sz="1400" spc="-4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Problema 3 · SP4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04 · Mapa de capacidades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Planificar la demanda es la capacidad crítica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15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6194" y="2186626"/>
            <a:ext cx="10577198" cy="6919598"/>
            <a:chOff x="0" y="0"/>
            <a:chExt cx="14102931" cy="92261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02970" cy="9226169"/>
            </a:xfrm>
            <a:custGeom>
              <a:avLst/>
              <a:gdLst/>
              <a:ahLst/>
              <a:cxnLst/>
              <a:rect r="r" b="b" t="t" l="l"/>
              <a:pathLst>
                <a:path h="9226169" w="14102970">
                  <a:moveTo>
                    <a:pt x="0" y="391033"/>
                  </a:moveTo>
                  <a:cubicBezTo>
                    <a:pt x="0" y="175006"/>
                    <a:pt x="175006" y="0"/>
                    <a:pt x="391033" y="0"/>
                  </a:cubicBezTo>
                  <a:lnTo>
                    <a:pt x="13711937" y="0"/>
                  </a:lnTo>
                  <a:cubicBezTo>
                    <a:pt x="13927837" y="0"/>
                    <a:pt x="14102970" y="175006"/>
                    <a:pt x="14102970" y="391033"/>
                  </a:cubicBezTo>
                  <a:lnTo>
                    <a:pt x="14102970" y="8835136"/>
                  </a:lnTo>
                  <a:cubicBezTo>
                    <a:pt x="14102970" y="9051036"/>
                    <a:pt x="13927964" y="9226169"/>
                    <a:pt x="13711937" y="9226169"/>
                  </a:cubicBezTo>
                  <a:lnTo>
                    <a:pt x="391033" y="9226169"/>
                  </a:lnTo>
                  <a:cubicBezTo>
                    <a:pt x="175133" y="9226169"/>
                    <a:pt x="0" y="9051163"/>
                    <a:pt x="0" y="883513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E8E8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5419" y="2331720"/>
            <a:ext cx="10478729" cy="6629400"/>
            <a:chOff x="0" y="0"/>
            <a:chExt cx="13971638" cy="8839200"/>
          </a:xfrm>
        </p:grpSpPr>
        <p:sp>
          <p:nvSpPr>
            <p:cNvPr name="Freeform 11" id="11" descr="image-10-1.png"/>
            <p:cNvSpPr/>
            <p:nvPr/>
          </p:nvSpPr>
          <p:spPr>
            <a:xfrm flipH="false" flipV="false" rot="0">
              <a:off x="0" y="0"/>
              <a:ext cx="13971651" cy="8839200"/>
            </a:xfrm>
            <a:custGeom>
              <a:avLst/>
              <a:gdLst/>
              <a:ahLst/>
              <a:cxnLst/>
              <a:rect r="r" b="b" t="t" l="l"/>
              <a:pathLst>
                <a:path h="8839200" w="13971651">
                  <a:moveTo>
                    <a:pt x="0" y="0"/>
                  </a:moveTo>
                  <a:lnTo>
                    <a:pt x="13971651" y="0"/>
                  </a:lnTo>
                  <a:lnTo>
                    <a:pt x="13971651" y="8839200"/>
                  </a:lnTo>
                  <a:lnTo>
                    <a:pt x="0" y="883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32920" y="2194560"/>
            <a:ext cx="2514600" cy="1600200"/>
            <a:chOff x="0" y="0"/>
            <a:chExt cx="3352800" cy="2133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28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335280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035808" y="0"/>
                  </a:lnTo>
                  <a:cubicBezTo>
                    <a:pt x="3210941" y="0"/>
                    <a:pt x="3352800" y="141859"/>
                    <a:pt x="3352800" y="316992"/>
                  </a:cubicBezTo>
                  <a:lnTo>
                    <a:pt x="3352800" y="1816608"/>
                  </a:lnTo>
                  <a:cubicBezTo>
                    <a:pt x="3352800" y="1991614"/>
                    <a:pt x="3210941" y="2133600"/>
                    <a:pt x="3035808" y="2133600"/>
                  </a:cubicBezTo>
                  <a:lnTo>
                    <a:pt x="316992" y="2133600"/>
                  </a:lnTo>
                  <a:cubicBezTo>
                    <a:pt x="141859" y="2133600"/>
                    <a:pt x="0" y="1991741"/>
                    <a:pt x="0" y="1816608"/>
                  </a:cubicBezTo>
                  <a:close/>
                </a:path>
              </a:pathLst>
            </a:custGeom>
            <a:solidFill>
              <a:srgbClr val="F8E4E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207240" y="2295525"/>
            <a:ext cx="210312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44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07240" y="3154680"/>
            <a:ext cx="21031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capacidades core críticas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749272" y="2194560"/>
            <a:ext cx="2514600" cy="1600200"/>
            <a:chOff x="0" y="0"/>
            <a:chExt cx="3352800" cy="2133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528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335280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035808" y="0"/>
                  </a:lnTo>
                  <a:cubicBezTo>
                    <a:pt x="3210941" y="0"/>
                    <a:pt x="3352800" y="141859"/>
                    <a:pt x="3352800" y="316992"/>
                  </a:cubicBezTo>
                  <a:lnTo>
                    <a:pt x="3352800" y="1816608"/>
                  </a:lnTo>
                  <a:cubicBezTo>
                    <a:pt x="3352800" y="1991614"/>
                    <a:pt x="3210941" y="2133600"/>
                    <a:pt x="3035808" y="2133600"/>
                  </a:cubicBezTo>
                  <a:lnTo>
                    <a:pt x="316992" y="2133600"/>
                  </a:lnTo>
                  <a:cubicBezTo>
                    <a:pt x="141859" y="2133600"/>
                    <a:pt x="0" y="1991741"/>
                    <a:pt x="0" y="1816608"/>
                  </a:cubicBezTo>
                  <a:close/>
                </a:path>
              </a:pathLst>
            </a:custGeom>
            <a:solidFill>
              <a:srgbClr val="FBF0D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023592" y="2295525"/>
            <a:ext cx="210312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44">
                <a:solidFill>
                  <a:srgbClr val="B779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23592" y="3154680"/>
            <a:ext cx="21031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débiles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32920" y="4069080"/>
            <a:ext cx="533095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i="true" spc="-56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Un proceso, dos capacidades del Grupo 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23395" y="4608195"/>
            <a:ext cx="5350002" cy="1939290"/>
            <a:chOff x="0" y="0"/>
            <a:chExt cx="7133336" cy="2585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3336" cy="2585720"/>
            </a:xfrm>
            <a:custGeom>
              <a:avLst/>
              <a:gdLst/>
              <a:ahLst/>
              <a:cxnLst/>
              <a:rect r="r" b="b" t="t" l="l"/>
              <a:pathLst>
                <a:path h="2585720" w="7133336">
                  <a:moveTo>
                    <a:pt x="0" y="320167"/>
                  </a:moveTo>
                  <a:cubicBezTo>
                    <a:pt x="0" y="143256"/>
                    <a:pt x="143256" y="0"/>
                    <a:pt x="320167" y="0"/>
                  </a:cubicBezTo>
                  <a:lnTo>
                    <a:pt x="6813169" y="0"/>
                  </a:lnTo>
                  <a:cubicBezTo>
                    <a:pt x="6989952" y="0"/>
                    <a:pt x="7133336" y="143256"/>
                    <a:pt x="7133336" y="320167"/>
                  </a:cubicBezTo>
                  <a:lnTo>
                    <a:pt x="7133336" y="2265553"/>
                  </a:lnTo>
                  <a:cubicBezTo>
                    <a:pt x="7133336" y="2442337"/>
                    <a:pt x="6990080" y="2585720"/>
                    <a:pt x="6813169" y="2585720"/>
                  </a:cubicBezTo>
                  <a:lnTo>
                    <a:pt x="320167" y="2585720"/>
                  </a:lnTo>
                  <a:cubicBezTo>
                    <a:pt x="143256" y="2585720"/>
                    <a:pt x="0" y="2442464"/>
                    <a:pt x="0" y="2265553"/>
                  </a:cubicBezTo>
                  <a:close/>
                </a:path>
              </a:pathLst>
            </a:custGeom>
            <a:solidFill>
              <a:srgbClr val="F8E4E1"/>
            </a:solidFill>
            <a:ln w="19050" cap="sq">
              <a:solidFill>
                <a:srgbClr val="B8322A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252960" y="4818888"/>
            <a:ext cx="475488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CRÍTICA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2960" y="5148072"/>
            <a:ext cx="47548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5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Planificación de Demanda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2960" y="5605272"/>
            <a:ext cx="47548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SP1 y SP2 · Pronóstico sin ventas digitales; quiebre de stock digital de 14.5%.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23395" y="6711315"/>
            <a:ext cx="5350002" cy="1939290"/>
            <a:chOff x="0" y="0"/>
            <a:chExt cx="7133336" cy="2585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3336" cy="2585720"/>
            </a:xfrm>
            <a:custGeom>
              <a:avLst/>
              <a:gdLst/>
              <a:ahLst/>
              <a:cxnLst/>
              <a:rect r="r" b="b" t="t" l="l"/>
              <a:pathLst>
                <a:path h="2585720" w="7133336">
                  <a:moveTo>
                    <a:pt x="0" y="320167"/>
                  </a:moveTo>
                  <a:cubicBezTo>
                    <a:pt x="0" y="143256"/>
                    <a:pt x="143256" y="0"/>
                    <a:pt x="320167" y="0"/>
                  </a:cubicBezTo>
                  <a:lnTo>
                    <a:pt x="6813169" y="0"/>
                  </a:lnTo>
                  <a:cubicBezTo>
                    <a:pt x="6989952" y="0"/>
                    <a:pt x="7133336" y="143256"/>
                    <a:pt x="7133336" y="320167"/>
                  </a:cubicBezTo>
                  <a:lnTo>
                    <a:pt x="7133336" y="2265553"/>
                  </a:lnTo>
                  <a:cubicBezTo>
                    <a:pt x="7133336" y="2442337"/>
                    <a:pt x="6990080" y="2585720"/>
                    <a:pt x="6813169" y="2585720"/>
                  </a:cubicBezTo>
                  <a:lnTo>
                    <a:pt x="320167" y="2585720"/>
                  </a:lnTo>
                  <a:cubicBezTo>
                    <a:pt x="143256" y="2585720"/>
                    <a:pt x="0" y="2442464"/>
                    <a:pt x="0" y="2265553"/>
                  </a:cubicBezTo>
                  <a:close/>
                </a:path>
              </a:pathLst>
            </a:custGeom>
            <a:solidFill>
              <a:srgbClr val="FBF0D9"/>
            </a:solidFill>
            <a:ln w="19050" cap="sq">
              <a:solidFill>
                <a:srgbClr val="B7791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252960" y="6922008"/>
            <a:ext cx="475488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B779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DÉBIL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52960" y="7251192"/>
            <a:ext cx="47548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5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Compras y Proveedores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52960" y="7708392"/>
            <a:ext cx="47548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SP3 a SP7 · OC con hasta 10 días de demora y coordinación por correo.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32920" y="8823960"/>
            <a:ext cx="533095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i="true" spc="-38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Modelo propio derivado del Flujo Operativo Integrado del caso.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05 · Arquitectura AS-IS · Negocio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Value stream: cinco etapas, siete pasos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17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4128" y="2148840"/>
            <a:ext cx="2926080" cy="3657600"/>
            <a:chOff x="0" y="0"/>
            <a:chExt cx="3901440" cy="487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390144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584448" y="0"/>
                  </a:lnTo>
                  <a:cubicBezTo>
                    <a:pt x="3759581" y="0"/>
                    <a:pt x="3901440" y="141859"/>
                    <a:pt x="3901440" y="316992"/>
                  </a:cubicBezTo>
                  <a:lnTo>
                    <a:pt x="3901440" y="4559808"/>
                  </a:lnTo>
                  <a:cubicBezTo>
                    <a:pt x="3901440" y="4734941"/>
                    <a:pt x="3759581" y="4876800"/>
                    <a:pt x="3584448" y="4876800"/>
                  </a:cubicBezTo>
                  <a:lnTo>
                    <a:pt x="316992" y="4876800"/>
                  </a:lnTo>
                  <a:cubicBezTo>
                    <a:pt x="141859" y="4876800"/>
                    <a:pt x="0" y="4734941"/>
                    <a:pt x="0" y="4559808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8448" y="2377440"/>
            <a:ext cx="24231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Analizar la demanda histórica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8448" y="3364992"/>
            <a:ext cx="777240" cy="365760"/>
            <a:chOff x="0" y="0"/>
            <a:chExt cx="1036320" cy="487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3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363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92480" y="0"/>
                  </a:lnTo>
                  <a:cubicBezTo>
                    <a:pt x="927100" y="0"/>
                    <a:pt x="1036320" y="109220"/>
                    <a:pt x="1036320" y="243840"/>
                  </a:cubicBezTo>
                  <a:cubicBezTo>
                    <a:pt x="1036320" y="378460"/>
                    <a:pt x="927100" y="487680"/>
                    <a:pt x="792480" y="487680"/>
                  </a:cubicBezTo>
                  <a:lnTo>
                    <a:pt x="243840" y="487680"/>
                  </a:ln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36320" cy="48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b="true" sz="1299" spc="-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8448" y="3913632"/>
            <a:ext cx="242316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Analista de Planificación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8448" y="4553712"/>
            <a:ext cx="2423160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Salida: </a:t>
            </a:r>
            <a:r>
              <a:rPr lang="en-US" sz="1500" spc="-44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Histórico de ventas por SKU extraído del ERP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50208" y="3429000"/>
            <a:ext cx="402336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›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352544" y="2148840"/>
            <a:ext cx="2926080" cy="3657600"/>
            <a:chOff x="0" y="0"/>
            <a:chExt cx="3901440" cy="4876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14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390144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584448" y="0"/>
                  </a:lnTo>
                  <a:cubicBezTo>
                    <a:pt x="3759581" y="0"/>
                    <a:pt x="3901440" y="141859"/>
                    <a:pt x="3901440" y="316992"/>
                  </a:cubicBezTo>
                  <a:lnTo>
                    <a:pt x="3901440" y="4559808"/>
                  </a:lnTo>
                  <a:cubicBezTo>
                    <a:pt x="3901440" y="4734941"/>
                    <a:pt x="3759581" y="4876800"/>
                    <a:pt x="3584448" y="4876800"/>
                  </a:cubicBezTo>
                  <a:lnTo>
                    <a:pt x="316992" y="4876800"/>
                  </a:lnTo>
                  <a:cubicBezTo>
                    <a:pt x="141859" y="4876800"/>
                    <a:pt x="0" y="4734941"/>
                    <a:pt x="0" y="4559808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626864" y="2377440"/>
            <a:ext cx="24231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Pronosticar la demanda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626864" y="3364992"/>
            <a:ext cx="777240" cy="365760"/>
            <a:chOff x="0" y="0"/>
            <a:chExt cx="103632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63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363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92480" y="0"/>
                  </a:lnTo>
                  <a:cubicBezTo>
                    <a:pt x="927100" y="0"/>
                    <a:pt x="1036320" y="109220"/>
                    <a:pt x="1036320" y="243840"/>
                  </a:cubicBezTo>
                  <a:cubicBezTo>
                    <a:pt x="1036320" y="378460"/>
                    <a:pt x="927100" y="487680"/>
                    <a:pt x="792480" y="487680"/>
                  </a:cubicBezTo>
                  <a:lnTo>
                    <a:pt x="243840" y="487680"/>
                  </a:ln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36320" cy="48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b="true" sz="1299" spc="-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626864" y="3913632"/>
            <a:ext cx="242316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Analista de Planificación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26864" y="4553712"/>
            <a:ext cx="2423160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Salida: </a:t>
            </a:r>
            <a:r>
              <a:rPr lang="en-US" sz="1500" spc="-44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Pronóstico mensual por categoría y SKU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78624" y="3429000"/>
            <a:ext cx="402336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›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680960" y="2148840"/>
            <a:ext cx="2926080" cy="3657600"/>
            <a:chOff x="0" y="0"/>
            <a:chExt cx="3901440" cy="4876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014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390144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584448" y="0"/>
                  </a:lnTo>
                  <a:cubicBezTo>
                    <a:pt x="3759581" y="0"/>
                    <a:pt x="3901440" y="141859"/>
                    <a:pt x="3901440" y="316992"/>
                  </a:cubicBezTo>
                  <a:lnTo>
                    <a:pt x="3901440" y="4559808"/>
                  </a:lnTo>
                  <a:cubicBezTo>
                    <a:pt x="3901440" y="4734941"/>
                    <a:pt x="3759581" y="4876800"/>
                    <a:pt x="3584448" y="4876800"/>
                  </a:cubicBezTo>
                  <a:lnTo>
                    <a:pt x="316992" y="4876800"/>
                  </a:lnTo>
                  <a:cubicBezTo>
                    <a:pt x="141859" y="4876800"/>
                    <a:pt x="0" y="4734941"/>
                    <a:pt x="0" y="4559808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955280" y="2377440"/>
            <a:ext cx="24231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Acordar la compra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955280" y="3364992"/>
            <a:ext cx="1325880" cy="365760"/>
            <a:chOff x="0" y="0"/>
            <a:chExt cx="176784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6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17678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524000" y="0"/>
                  </a:lnTo>
                  <a:cubicBezTo>
                    <a:pt x="1658620" y="0"/>
                    <a:pt x="1767840" y="109220"/>
                    <a:pt x="1767840" y="243840"/>
                  </a:cubicBezTo>
                  <a:cubicBezTo>
                    <a:pt x="1767840" y="378460"/>
                    <a:pt x="1658620" y="487680"/>
                    <a:pt x="1524000" y="487680"/>
                  </a:cubicBezTo>
                  <a:lnTo>
                    <a:pt x="243840" y="487680"/>
                  </a:ln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767840" cy="48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b="true" sz="1299" spc="-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SP3 · SP4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955280" y="3913632"/>
            <a:ext cx="242316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Jefe de Categoría y proveedor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55280" y="4553712"/>
            <a:ext cx="2423160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Salida: </a:t>
            </a:r>
            <a:r>
              <a:rPr lang="en-US" sz="1500" spc="-44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Condiciones negociadas y compra aprobada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07040" y="3429000"/>
            <a:ext cx="402336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›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009376" y="2148840"/>
            <a:ext cx="2926080" cy="3657600"/>
            <a:chOff x="0" y="0"/>
            <a:chExt cx="3901440" cy="4876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14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390144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584448" y="0"/>
                  </a:lnTo>
                  <a:cubicBezTo>
                    <a:pt x="3759581" y="0"/>
                    <a:pt x="3901440" y="141859"/>
                    <a:pt x="3901440" y="316992"/>
                  </a:cubicBezTo>
                  <a:lnTo>
                    <a:pt x="3901440" y="4559808"/>
                  </a:lnTo>
                  <a:cubicBezTo>
                    <a:pt x="3901440" y="4734941"/>
                    <a:pt x="3759581" y="4876800"/>
                    <a:pt x="3584448" y="4876800"/>
                  </a:cubicBezTo>
                  <a:lnTo>
                    <a:pt x="316992" y="4876800"/>
                  </a:lnTo>
                  <a:cubicBezTo>
                    <a:pt x="141859" y="4876800"/>
                    <a:pt x="0" y="4734941"/>
                    <a:pt x="0" y="4559808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283696" y="2377440"/>
            <a:ext cx="24231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Comprometer el abastecimiento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283696" y="3364992"/>
            <a:ext cx="1325880" cy="365760"/>
            <a:chOff x="0" y="0"/>
            <a:chExt cx="176784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6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17678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524000" y="0"/>
                  </a:lnTo>
                  <a:cubicBezTo>
                    <a:pt x="1658620" y="0"/>
                    <a:pt x="1767840" y="109220"/>
                    <a:pt x="1767840" y="243840"/>
                  </a:cubicBezTo>
                  <a:cubicBezTo>
                    <a:pt x="1767840" y="378460"/>
                    <a:pt x="1658620" y="487680"/>
                    <a:pt x="1524000" y="487680"/>
                  </a:cubicBezTo>
                  <a:lnTo>
                    <a:pt x="243840" y="487680"/>
                  </a:ln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767840" cy="48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b="true" sz="1299" spc="-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SP5 · SP6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283696" y="3913632"/>
            <a:ext cx="242316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Jefe de Categoría y proveedor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83696" y="4553712"/>
            <a:ext cx="2423160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Salida: </a:t>
            </a:r>
            <a:r>
              <a:rPr lang="en-US" sz="1500" spc="-44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OC emitida y confirmada con fecha de entrega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935456" y="3429000"/>
            <a:ext cx="402336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 spc="-119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›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337792" y="2148840"/>
            <a:ext cx="2926080" cy="3657600"/>
            <a:chOff x="0" y="0"/>
            <a:chExt cx="3901440" cy="4876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390144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584448" y="0"/>
                  </a:lnTo>
                  <a:cubicBezTo>
                    <a:pt x="3759581" y="0"/>
                    <a:pt x="3901440" y="141859"/>
                    <a:pt x="3901440" y="316992"/>
                  </a:cubicBezTo>
                  <a:lnTo>
                    <a:pt x="3901440" y="4559808"/>
                  </a:lnTo>
                  <a:cubicBezTo>
                    <a:pt x="3901440" y="4734941"/>
                    <a:pt x="3759581" y="4876800"/>
                    <a:pt x="3584448" y="4876800"/>
                  </a:cubicBezTo>
                  <a:lnTo>
                    <a:pt x="316992" y="4876800"/>
                  </a:lnTo>
                  <a:cubicBezTo>
                    <a:pt x="141859" y="4876800"/>
                    <a:pt x="0" y="4734941"/>
                    <a:pt x="0" y="4559808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612112" y="2377440"/>
            <a:ext cx="24231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Formalizar la compra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612112" y="3364992"/>
            <a:ext cx="777240" cy="365760"/>
            <a:chOff x="0" y="0"/>
            <a:chExt cx="103632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363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363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92480" y="0"/>
                  </a:lnTo>
                  <a:cubicBezTo>
                    <a:pt x="927100" y="0"/>
                    <a:pt x="1036320" y="109220"/>
                    <a:pt x="1036320" y="243840"/>
                  </a:cubicBezTo>
                  <a:cubicBezTo>
                    <a:pt x="1036320" y="378460"/>
                    <a:pt x="927100" y="487680"/>
                    <a:pt x="792480" y="487680"/>
                  </a:cubicBezTo>
                  <a:lnTo>
                    <a:pt x="243840" y="487680"/>
                  </a:ln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36320" cy="48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b="true" sz="1299" spc="-3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SP7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4612112" y="3913632"/>
            <a:ext cx="242316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1F6E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Proveedor y Analista de Finanzas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12112" y="4553712"/>
            <a:ext cx="2423160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-44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Salida: </a:t>
            </a:r>
            <a:r>
              <a:rPr lang="en-US" sz="1500" spc="-44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OC “Pendiente de Recepción” y provisión del pago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24128" y="5989320"/>
            <a:ext cx="6254496" cy="502920"/>
            <a:chOff x="0" y="0"/>
            <a:chExt cx="8339328" cy="6705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339328" cy="670560"/>
            </a:xfrm>
            <a:custGeom>
              <a:avLst/>
              <a:gdLst/>
              <a:ahLst/>
              <a:cxnLst/>
              <a:rect r="r" b="b" t="t" l="l"/>
              <a:pathLst>
                <a:path h="670560" w="8339328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8004048" y="0"/>
                  </a:lnTo>
                  <a:cubicBezTo>
                    <a:pt x="8189214" y="0"/>
                    <a:pt x="8339328" y="150114"/>
                    <a:pt x="8339328" y="335280"/>
                  </a:cubicBezTo>
                  <a:cubicBezTo>
                    <a:pt x="8339328" y="520446"/>
                    <a:pt x="8189214" y="670560"/>
                    <a:pt x="8004048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24128" y="5989320"/>
            <a:ext cx="6254496" cy="502920"/>
            <a:chOff x="0" y="0"/>
            <a:chExt cx="8339328" cy="670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39328" cy="670560"/>
            </a:xfrm>
            <a:custGeom>
              <a:avLst/>
              <a:gdLst/>
              <a:ahLst/>
              <a:cxnLst/>
              <a:rect r="r" b="b" t="t" l="l"/>
              <a:pathLst>
                <a:path h="670560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2323" r="0" b="-19232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8339328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-44">
                  <a:solidFill>
                    <a:srgbClr val="2B2B2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Capacidad: Planificación de Demanda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680960" y="5989320"/>
            <a:ext cx="9582912" cy="502920"/>
            <a:chOff x="0" y="0"/>
            <a:chExt cx="12777216" cy="6705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777216" cy="670560"/>
            </a:xfrm>
            <a:custGeom>
              <a:avLst/>
              <a:gdLst/>
              <a:ahLst/>
              <a:cxnLst/>
              <a:rect r="r" b="b" t="t" l="l"/>
              <a:pathLst>
                <a:path h="670560" w="12777216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12441936" y="0"/>
                  </a:lnTo>
                  <a:cubicBezTo>
                    <a:pt x="12627102" y="0"/>
                    <a:pt x="12777216" y="150114"/>
                    <a:pt x="12777216" y="335280"/>
                  </a:cubicBezTo>
                  <a:cubicBezTo>
                    <a:pt x="12777216" y="520446"/>
                    <a:pt x="12627102" y="670560"/>
                    <a:pt x="12441936" y="670560"/>
                  </a:cubicBezTo>
                  <a:lnTo>
                    <a:pt x="335280" y="670560"/>
                  </a:lnTo>
                  <a:cubicBezTo>
                    <a:pt x="150114" y="670560"/>
                    <a:pt x="0" y="520446"/>
                    <a:pt x="0" y="33528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680960" y="5989320"/>
            <a:ext cx="9582912" cy="502920"/>
            <a:chOff x="0" y="0"/>
            <a:chExt cx="12777216" cy="670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777216" cy="670560"/>
            </a:xfrm>
            <a:custGeom>
              <a:avLst/>
              <a:gdLst/>
              <a:ahLst/>
              <a:cxnLst/>
              <a:rect r="r" b="b" t="t" l="l"/>
              <a:pathLst>
                <a:path h="670560" w="12777216">
                  <a:moveTo>
                    <a:pt x="0" y="0"/>
                  </a:moveTo>
                  <a:lnTo>
                    <a:pt x="12777216" y="0"/>
                  </a:lnTo>
                  <a:lnTo>
                    <a:pt x="12777216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278" r="0" b="-32127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277721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-44">
                  <a:solidFill>
                    <a:srgbClr val="2B2B2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Capacidad: Gestión de Compras y Proveedores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24128" y="6711315"/>
            <a:ext cx="9144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 spc="-63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Dónde se pierde valor hoy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24128" y="7223760"/>
            <a:ext cx="5199888" cy="1783080"/>
            <a:chOff x="0" y="0"/>
            <a:chExt cx="6933184" cy="2377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331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69331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616192" y="0"/>
                  </a:lnTo>
                  <a:cubicBezTo>
                    <a:pt x="6791198" y="0"/>
                    <a:pt x="6933184" y="141859"/>
                    <a:pt x="6933184" y="316992"/>
                  </a:cubicBezTo>
                  <a:lnTo>
                    <a:pt x="6933184" y="2060448"/>
                  </a:lnTo>
                  <a:cubicBezTo>
                    <a:pt x="6933184" y="2235454"/>
                    <a:pt x="6791325" y="2377440"/>
                    <a:pt x="6616192" y="2377440"/>
                  </a:cubicBezTo>
                  <a:lnTo>
                    <a:pt x="316992" y="2377440"/>
                  </a:lnTo>
                  <a:cubicBezTo>
                    <a:pt x="141859" y="2377440"/>
                    <a:pt x="0" y="2235581"/>
                    <a:pt x="0" y="2060448"/>
                  </a:cubicBezTo>
                  <a:close/>
                </a:path>
              </a:pathLst>
            </a:custGeom>
            <a:solidFill>
              <a:srgbClr val="F8E4E1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344168" y="7397115"/>
            <a:ext cx="465124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-47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Etapa 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44168" y="7818120"/>
            <a:ext cx="46512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pronóstico usa solo venta física de hace 30 días.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544056" y="7223760"/>
            <a:ext cx="5199888" cy="1783080"/>
            <a:chOff x="0" y="0"/>
            <a:chExt cx="6933184" cy="2377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331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69331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616192" y="0"/>
                  </a:lnTo>
                  <a:cubicBezTo>
                    <a:pt x="6791198" y="0"/>
                    <a:pt x="6933184" y="141859"/>
                    <a:pt x="6933184" y="316992"/>
                  </a:cubicBezTo>
                  <a:lnTo>
                    <a:pt x="6933184" y="2060448"/>
                  </a:lnTo>
                  <a:cubicBezTo>
                    <a:pt x="6933184" y="2235454"/>
                    <a:pt x="6791325" y="2377440"/>
                    <a:pt x="6616192" y="2377440"/>
                  </a:cubicBezTo>
                  <a:lnTo>
                    <a:pt x="316992" y="2377440"/>
                  </a:lnTo>
                  <a:cubicBezTo>
                    <a:pt x="141859" y="2377440"/>
                    <a:pt x="0" y="2235581"/>
                    <a:pt x="0" y="2060448"/>
                  </a:cubicBezTo>
                  <a:close/>
                </a:path>
              </a:pathLst>
            </a:custGeom>
            <a:solidFill>
              <a:srgbClr val="F8E4E1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6864096" y="7397115"/>
            <a:ext cx="465124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-47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Etapas 3 y 4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864096" y="7818120"/>
            <a:ext cx="46512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Aprobación y confirmación por correo: hasta 10 días.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063984" y="7223760"/>
            <a:ext cx="5199888" cy="1783080"/>
            <a:chOff x="0" y="0"/>
            <a:chExt cx="6933184" cy="2377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9331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69331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616192" y="0"/>
                  </a:lnTo>
                  <a:cubicBezTo>
                    <a:pt x="6791198" y="0"/>
                    <a:pt x="6933184" y="141859"/>
                    <a:pt x="6933184" y="316992"/>
                  </a:cubicBezTo>
                  <a:lnTo>
                    <a:pt x="6933184" y="2060448"/>
                  </a:lnTo>
                  <a:cubicBezTo>
                    <a:pt x="6933184" y="2235454"/>
                    <a:pt x="6791325" y="2377440"/>
                    <a:pt x="6616192" y="2377440"/>
                  </a:cubicBezTo>
                  <a:lnTo>
                    <a:pt x="316992" y="2377440"/>
                  </a:lnTo>
                  <a:cubicBezTo>
                    <a:pt x="141859" y="2377440"/>
                    <a:pt x="0" y="2235581"/>
                    <a:pt x="0" y="2060448"/>
                  </a:cubicBezTo>
                  <a:close/>
                </a:path>
              </a:pathLst>
            </a:custGeom>
            <a:solidFill>
              <a:srgbClr val="F8E4E1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2384024" y="7397115"/>
            <a:ext cx="465124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-47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Etapas 3 y 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384024" y="7818120"/>
            <a:ext cx="4651248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SKU del ERP no coincide con el código de barras del proveedor.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05 · Arquitectura AS-IS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32688"/>
            <a:ext cx="157276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spc="-155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Arquitectura AS-IS por capas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18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8709" y="1778548"/>
            <a:ext cx="16650583" cy="7479752"/>
            <a:chOff x="0" y="0"/>
            <a:chExt cx="20355344" cy="9144000"/>
          </a:xfrm>
        </p:grpSpPr>
        <p:sp>
          <p:nvSpPr>
            <p:cNvPr name="Freeform 9" id="9" descr="image-12-1.png"/>
            <p:cNvSpPr/>
            <p:nvPr/>
          </p:nvSpPr>
          <p:spPr>
            <a:xfrm flipH="false" flipV="false" rot="0">
              <a:off x="0" y="0"/>
              <a:ext cx="20355306" cy="9144000"/>
            </a:xfrm>
            <a:custGeom>
              <a:avLst/>
              <a:gdLst/>
              <a:ahLst/>
              <a:cxnLst/>
              <a:rect r="r" b="b" t="t" l="l"/>
              <a:pathLst>
                <a:path h="9144000" w="20355306">
                  <a:moveTo>
                    <a:pt x="0" y="0"/>
                  </a:moveTo>
                  <a:lnTo>
                    <a:pt x="20355306" y="0"/>
                  </a:lnTo>
                  <a:lnTo>
                    <a:pt x="2035530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05 · Arquitectura AS-IS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Hallazgos del AS-IS por capa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19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4128" y="2148840"/>
            <a:ext cx="5169408" cy="6949440"/>
            <a:chOff x="0" y="0"/>
            <a:chExt cx="6892544" cy="926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92544" cy="9265920"/>
            </a:xfrm>
            <a:custGeom>
              <a:avLst/>
              <a:gdLst/>
              <a:ahLst/>
              <a:cxnLst/>
              <a:rect r="r" b="b" t="t" l="l"/>
              <a:pathLst>
                <a:path h="9265920" w="689254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02400" y="0"/>
                  </a:lnTo>
                  <a:cubicBezTo>
                    <a:pt x="6717919" y="0"/>
                    <a:pt x="6892544" y="174625"/>
                    <a:pt x="6892544" y="390144"/>
                  </a:cubicBezTo>
                  <a:lnTo>
                    <a:pt x="6892544" y="8875776"/>
                  </a:lnTo>
                  <a:cubicBezTo>
                    <a:pt x="6892544" y="9091295"/>
                    <a:pt x="6717919" y="9265920"/>
                    <a:pt x="6502400" y="9265920"/>
                  </a:cubicBezTo>
                  <a:lnTo>
                    <a:pt x="390144" y="9265920"/>
                  </a:lnTo>
                  <a:cubicBezTo>
                    <a:pt x="174625" y="9265920"/>
                    <a:pt x="0" y="9091295"/>
                    <a:pt x="0" y="887577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35608" y="2560320"/>
            <a:ext cx="868680" cy="868680"/>
            <a:chOff x="0" y="0"/>
            <a:chExt cx="1158240" cy="1158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8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1158240">
                  <a:moveTo>
                    <a:pt x="0" y="579120"/>
                  </a:moveTo>
                  <a:cubicBezTo>
                    <a:pt x="0" y="259334"/>
                    <a:pt x="259334" y="0"/>
                    <a:pt x="579120" y="0"/>
                  </a:cubicBezTo>
                  <a:cubicBezTo>
                    <a:pt x="898906" y="0"/>
                    <a:pt x="1158240" y="259334"/>
                    <a:pt x="1158240" y="579120"/>
                  </a:cubicBezTo>
                  <a:cubicBezTo>
                    <a:pt x="1158240" y="898906"/>
                    <a:pt x="898906" y="1158240"/>
                    <a:pt x="579120" y="1158240"/>
                  </a:cubicBezTo>
                  <a:cubicBezTo>
                    <a:pt x="259334" y="1158240"/>
                    <a:pt x="0" y="898906"/>
                    <a:pt x="0" y="57912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2778" y="2777490"/>
            <a:ext cx="434340" cy="434340"/>
            <a:chOff x="0" y="0"/>
            <a:chExt cx="579120" cy="579120"/>
          </a:xfrm>
        </p:grpSpPr>
        <p:sp>
          <p:nvSpPr>
            <p:cNvPr name="Freeform 13" id="13" descr="image-13-1.png"/>
            <p:cNvSpPr/>
            <p:nvPr/>
          </p:nvSpPr>
          <p:spPr>
            <a:xfrm flipH="false" flipV="false" rot="0">
              <a:off x="0" y="0"/>
              <a:ext cx="579120" cy="579120"/>
            </a:xfrm>
            <a:custGeom>
              <a:avLst/>
              <a:gdLst/>
              <a:ahLst/>
              <a:cxnLst/>
              <a:rect r="r" b="b" t="t" l="l"/>
              <a:pathLst>
                <a:path h="579120" w="579120">
                  <a:moveTo>
                    <a:pt x="0" y="0"/>
                  </a:moveTo>
                  <a:lnTo>
                    <a:pt x="579120" y="0"/>
                  </a:lnTo>
                  <a:lnTo>
                    <a:pt x="579120" y="579120"/>
                  </a:lnTo>
                  <a:lnTo>
                    <a:pt x="0" y="57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532888" y="2725293"/>
            <a:ext cx="334060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7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Aplicaciones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81328" y="3858768"/>
            <a:ext cx="128016" cy="128016"/>
            <a:chOff x="0" y="0"/>
            <a:chExt cx="170688" cy="170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73936" y="37395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ERP SAP ECC 6.0 (MM/SD), Excel y correo sostienen el proceso.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81328" y="4773168"/>
            <a:ext cx="128016" cy="128016"/>
            <a:chOff x="0" y="0"/>
            <a:chExt cx="170688" cy="1706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73936" y="46539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No hay front-office para proveedores ni capa de integración.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81328" y="5687568"/>
            <a:ext cx="128016" cy="128016"/>
            <a:chOff x="0" y="0"/>
            <a:chExt cx="170688" cy="1706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73936" y="55683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proceso no expone servicios de aplicación a otros procesos.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608" y="671131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 spc="-150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5608" y="771715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integraciones por API con proveedores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59296" y="2148840"/>
            <a:ext cx="5169408" cy="6949440"/>
            <a:chOff x="0" y="0"/>
            <a:chExt cx="6892544" cy="9265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92544" cy="9265920"/>
            </a:xfrm>
            <a:custGeom>
              <a:avLst/>
              <a:gdLst/>
              <a:ahLst/>
              <a:cxnLst/>
              <a:rect r="r" b="b" t="t" l="l"/>
              <a:pathLst>
                <a:path h="9265920" w="689254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02400" y="0"/>
                  </a:lnTo>
                  <a:cubicBezTo>
                    <a:pt x="6717919" y="0"/>
                    <a:pt x="6892544" y="174625"/>
                    <a:pt x="6892544" y="390144"/>
                  </a:cubicBezTo>
                  <a:lnTo>
                    <a:pt x="6892544" y="8875776"/>
                  </a:lnTo>
                  <a:cubicBezTo>
                    <a:pt x="6892544" y="9091295"/>
                    <a:pt x="6717919" y="9265920"/>
                    <a:pt x="6502400" y="9265920"/>
                  </a:cubicBezTo>
                  <a:lnTo>
                    <a:pt x="390144" y="9265920"/>
                  </a:lnTo>
                  <a:cubicBezTo>
                    <a:pt x="174625" y="9265920"/>
                    <a:pt x="0" y="9091295"/>
                    <a:pt x="0" y="8875776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70776" y="2560320"/>
            <a:ext cx="868680" cy="868680"/>
            <a:chOff x="0" y="0"/>
            <a:chExt cx="1158240" cy="1158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8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1158240">
                  <a:moveTo>
                    <a:pt x="0" y="579120"/>
                  </a:moveTo>
                  <a:cubicBezTo>
                    <a:pt x="0" y="259334"/>
                    <a:pt x="259334" y="0"/>
                    <a:pt x="579120" y="0"/>
                  </a:cubicBezTo>
                  <a:cubicBezTo>
                    <a:pt x="898906" y="0"/>
                    <a:pt x="1158240" y="259334"/>
                    <a:pt x="1158240" y="579120"/>
                  </a:cubicBezTo>
                  <a:cubicBezTo>
                    <a:pt x="1158240" y="898906"/>
                    <a:pt x="898906" y="1158240"/>
                    <a:pt x="579120" y="1158240"/>
                  </a:cubicBezTo>
                  <a:cubicBezTo>
                    <a:pt x="259334" y="1158240"/>
                    <a:pt x="0" y="898906"/>
                    <a:pt x="0" y="57912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87946" y="2777490"/>
            <a:ext cx="434340" cy="434340"/>
            <a:chOff x="0" y="0"/>
            <a:chExt cx="579120" cy="579120"/>
          </a:xfrm>
        </p:grpSpPr>
        <p:sp>
          <p:nvSpPr>
            <p:cNvPr name="Freeform 31" id="31" descr="image-13-2.png"/>
            <p:cNvSpPr/>
            <p:nvPr/>
          </p:nvSpPr>
          <p:spPr>
            <a:xfrm flipH="false" flipV="false" rot="0">
              <a:off x="0" y="0"/>
              <a:ext cx="579120" cy="579120"/>
            </a:xfrm>
            <a:custGeom>
              <a:avLst/>
              <a:gdLst/>
              <a:ahLst/>
              <a:cxnLst/>
              <a:rect r="r" b="b" t="t" l="l"/>
              <a:pathLst>
                <a:path h="579120" w="579120">
                  <a:moveTo>
                    <a:pt x="0" y="0"/>
                  </a:moveTo>
                  <a:lnTo>
                    <a:pt x="579120" y="0"/>
                  </a:lnTo>
                  <a:lnTo>
                    <a:pt x="579120" y="579120"/>
                  </a:lnTo>
                  <a:lnTo>
                    <a:pt x="0" y="57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068056" y="2725293"/>
            <a:ext cx="334060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7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Datos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016496" y="3858768"/>
            <a:ext cx="128016" cy="128016"/>
            <a:chOff x="0" y="0"/>
            <a:chExt cx="170688" cy="1706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309104" y="37395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histórico solo cubre la venta física.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016496" y="4773168"/>
            <a:ext cx="128016" cy="128016"/>
            <a:chOff x="0" y="0"/>
            <a:chExt cx="170688" cy="1706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309104" y="46539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pronóstico vive en los PC de los analistas, sin trazabilidad.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016496" y="5687568"/>
            <a:ext cx="128016" cy="128016"/>
            <a:chOff x="0" y="0"/>
            <a:chExt cx="170688" cy="1706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309104" y="55683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SKU del ERP no coincide con los códigos de barra de proveedores.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70776" y="671131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 spc="-150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&gt;60%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70776" y="771715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de vacíos en peso, dimensiones y punto de reorden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094464" y="2148840"/>
            <a:ext cx="5169408" cy="6949440"/>
            <a:chOff x="0" y="0"/>
            <a:chExt cx="6892544" cy="926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92544" cy="9265920"/>
            </a:xfrm>
            <a:custGeom>
              <a:avLst/>
              <a:gdLst/>
              <a:ahLst/>
              <a:cxnLst/>
              <a:rect r="r" b="b" t="t" l="l"/>
              <a:pathLst>
                <a:path h="9265920" w="689254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6502400" y="0"/>
                  </a:lnTo>
                  <a:cubicBezTo>
                    <a:pt x="6717919" y="0"/>
                    <a:pt x="6892544" y="174625"/>
                    <a:pt x="6892544" y="390144"/>
                  </a:cubicBezTo>
                  <a:lnTo>
                    <a:pt x="6892544" y="8875776"/>
                  </a:lnTo>
                  <a:cubicBezTo>
                    <a:pt x="6892544" y="9091295"/>
                    <a:pt x="6717919" y="9265920"/>
                    <a:pt x="6502400" y="9265920"/>
                  </a:cubicBezTo>
                  <a:lnTo>
                    <a:pt x="390144" y="9265920"/>
                  </a:lnTo>
                  <a:cubicBezTo>
                    <a:pt x="174625" y="9265920"/>
                    <a:pt x="0" y="9091295"/>
                    <a:pt x="0" y="887577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05944" y="2560320"/>
            <a:ext cx="868680" cy="868680"/>
            <a:chOff x="0" y="0"/>
            <a:chExt cx="1158240" cy="1158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58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1158240">
                  <a:moveTo>
                    <a:pt x="0" y="579120"/>
                  </a:moveTo>
                  <a:cubicBezTo>
                    <a:pt x="0" y="259334"/>
                    <a:pt x="259334" y="0"/>
                    <a:pt x="579120" y="0"/>
                  </a:cubicBezTo>
                  <a:cubicBezTo>
                    <a:pt x="898906" y="0"/>
                    <a:pt x="1158240" y="259334"/>
                    <a:pt x="1158240" y="579120"/>
                  </a:cubicBezTo>
                  <a:cubicBezTo>
                    <a:pt x="1158240" y="898906"/>
                    <a:pt x="898906" y="1158240"/>
                    <a:pt x="579120" y="1158240"/>
                  </a:cubicBezTo>
                  <a:cubicBezTo>
                    <a:pt x="259334" y="1158240"/>
                    <a:pt x="0" y="898906"/>
                    <a:pt x="0" y="57912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723114" y="2777490"/>
            <a:ext cx="434340" cy="434340"/>
            <a:chOff x="0" y="0"/>
            <a:chExt cx="579120" cy="579120"/>
          </a:xfrm>
        </p:grpSpPr>
        <p:sp>
          <p:nvSpPr>
            <p:cNvPr name="Freeform 49" id="49" descr="image-13-3.png"/>
            <p:cNvSpPr/>
            <p:nvPr/>
          </p:nvSpPr>
          <p:spPr>
            <a:xfrm flipH="false" flipV="false" rot="0">
              <a:off x="0" y="0"/>
              <a:ext cx="579120" cy="579120"/>
            </a:xfrm>
            <a:custGeom>
              <a:avLst/>
              <a:gdLst/>
              <a:ahLst/>
              <a:cxnLst/>
              <a:rect r="r" b="b" t="t" l="l"/>
              <a:pathLst>
                <a:path h="579120" w="579120">
                  <a:moveTo>
                    <a:pt x="0" y="0"/>
                  </a:moveTo>
                  <a:lnTo>
                    <a:pt x="579120" y="0"/>
                  </a:lnTo>
                  <a:lnTo>
                    <a:pt x="579120" y="579120"/>
                  </a:lnTo>
                  <a:lnTo>
                    <a:pt x="0" y="57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3603224" y="2725293"/>
            <a:ext cx="334060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7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Infraestructura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551664" y="3858768"/>
            <a:ext cx="128016" cy="128016"/>
            <a:chOff x="0" y="0"/>
            <a:chExt cx="170688" cy="1706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2844272" y="37395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ERP corre en servidores on-premise cercanos al fin de vida.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551664" y="4773168"/>
            <a:ext cx="128016" cy="128016"/>
            <a:chOff x="0" y="0"/>
            <a:chExt cx="170688" cy="1706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2844272" y="46539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El pronóstico depende de equipos personales.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551664" y="5687568"/>
            <a:ext cx="128016" cy="128016"/>
            <a:chOff x="0" y="0"/>
            <a:chExt cx="170688" cy="1706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1F6E44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844272" y="5568315"/>
            <a:ext cx="40264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Nube y on-premise se comunican por lotes nocturnos (CSV por SFTP).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505944" y="671131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 spc="-150">
                <a:solidFill>
                  <a:srgbClr val="B8322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75%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505944" y="7717155"/>
            <a:ext cx="434644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47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del presupuesto de TI se va en mantener sistemas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128" y="566928"/>
            <a:ext cx="1280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 spc="-65">
                <a:solidFill>
                  <a:srgbClr val="5E5E5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06 · 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7552" y="923163"/>
            <a:ext cx="1572768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-179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Hacia la arquitectura TO-BE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128" y="9436608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-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 NOVA S.A.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3200" y="9473184"/>
            <a:ext cx="23317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-44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20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33520" y="9345168"/>
            <a:ext cx="530352" cy="530352"/>
            <a:chOff x="0" y="0"/>
            <a:chExt cx="707136" cy="707136"/>
          </a:xfrm>
        </p:grpSpPr>
        <p:sp>
          <p:nvSpPr>
            <p:cNvPr name="Freeform 7" id="7" descr="image6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4128" y="2194560"/>
            <a:ext cx="8869680" cy="2103120"/>
            <a:chOff x="0" y="0"/>
            <a:chExt cx="11826240" cy="2804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2623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1826239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1436096" y="0"/>
                  </a:lnTo>
                  <a:cubicBezTo>
                    <a:pt x="11651614" y="0"/>
                    <a:pt x="11826239" y="174625"/>
                    <a:pt x="11826239" y="390144"/>
                  </a:cubicBezTo>
                  <a:lnTo>
                    <a:pt x="11826239" y="2414016"/>
                  </a:lnTo>
                  <a:cubicBezTo>
                    <a:pt x="11826239" y="2629535"/>
                    <a:pt x="11651614" y="2804160"/>
                    <a:pt x="11436096" y="2804160"/>
                  </a:cubicBezTo>
                  <a:lnTo>
                    <a:pt x="390144" y="2804160"/>
                  </a:lnTo>
                  <a:cubicBezTo>
                    <a:pt x="174625" y="2804160"/>
                    <a:pt x="0" y="2629535"/>
                    <a:pt x="0" y="241401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17320" y="2743200"/>
            <a:ext cx="1005840" cy="1005840"/>
            <a:chOff x="0" y="0"/>
            <a:chExt cx="134112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68780" y="2994660"/>
            <a:ext cx="502920" cy="502920"/>
            <a:chOff x="0" y="0"/>
            <a:chExt cx="670560" cy="670560"/>
          </a:xfrm>
        </p:grpSpPr>
        <p:sp>
          <p:nvSpPr>
            <p:cNvPr name="Freeform 13" id="13" descr="image-14-1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788920" y="2596515"/>
            <a:ext cx="67665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brecha principal está en planificar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88920" y="3154680"/>
            <a:ext cx="67665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El pronóstico no ve el 22% de las ventas que hoy son digitales.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4128" y="4526280"/>
            <a:ext cx="8869680" cy="2103120"/>
            <a:chOff x="0" y="0"/>
            <a:chExt cx="11826240" cy="2804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2623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1826239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1436096" y="0"/>
                  </a:lnTo>
                  <a:cubicBezTo>
                    <a:pt x="11651614" y="0"/>
                    <a:pt x="11826239" y="174625"/>
                    <a:pt x="11826239" y="390144"/>
                  </a:cubicBezTo>
                  <a:lnTo>
                    <a:pt x="11826239" y="2414016"/>
                  </a:lnTo>
                  <a:cubicBezTo>
                    <a:pt x="11826239" y="2629535"/>
                    <a:pt x="11651614" y="2804160"/>
                    <a:pt x="11436096" y="2804160"/>
                  </a:cubicBezTo>
                  <a:lnTo>
                    <a:pt x="390144" y="2804160"/>
                  </a:lnTo>
                  <a:cubicBezTo>
                    <a:pt x="174625" y="2804160"/>
                    <a:pt x="0" y="2629535"/>
                    <a:pt x="0" y="241401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17320" y="5074920"/>
            <a:ext cx="1005840" cy="1005840"/>
            <a:chOff x="0" y="0"/>
            <a:chExt cx="134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8780" y="5326380"/>
            <a:ext cx="502920" cy="502920"/>
            <a:chOff x="0" y="0"/>
            <a:chExt cx="670560" cy="670560"/>
          </a:xfrm>
        </p:grpSpPr>
        <p:sp>
          <p:nvSpPr>
            <p:cNvPr name="Freeform 21" id="21" descr="image-14-2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788920" y="4928235"/>
            <a:ext cx="67665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Las compras dependen del correo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88920" y="5486400"/>
            <a:ext cx="67665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Aprobar y confirmar una OC puede tomar hasta 10 días.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4128" y="6858000"/>
            <a:ext cx="8869680" cy="2103120"/>
            <a:chOff x="0" y="0"/>
            <a:chExt cx="11826240" cy="2804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2623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1826239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1436096" y="0"/>
                  </a:lnTo>
                  <a:cubicBezTo>
                    <a:pt x="11651614" y="0"/>
                    <a:pt x="11826239" y="174625"/>
                    <a:pt x="11826239" y="390144"/>
                  </a:cubicBezTo>
                  <a:lnTo>
                    <a:pt x="11826239" y="2414016"/>
                  </a:lnTo>
                  <a:cubicBezTo>
                    <a:pt x="11826239" y="2629535"/>
                    <a:pt x="11651614" y="2804160"/>
                    <a:pt x="11436096" y="2804160"/>
                  </a:cubicBezTo>
                  <a:lnTo>
                    <a:pt x="390144" y="2804160"/>
                  </a:lnTo>
                  <a:cubicBezTo>
                    <a:pt x="174625" y="2804160"/>
                    <a:pt x="0" y="2629535"/>
                    <a:pt x="0" y="241401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17320" y="7406640"/>
            <a:ext cx="1005840" cy="1005840"/>
            <a:chOff x="0" y="0"/>
            <a:chExt cx="134112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68780" y="7658100"/>
            <a:ext cx="502920" cy="502920"/>
            <a:chOff x="0" y="0"/>
            <a:chExt cx="670560" cy="670560"/>
          </a:xfrm>
        </p:grpSpPr>
        <p:sp>
          <p:nvSpPr>
            <p:cNvPr name="Freeform 29" id="29" descr="image-13-2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788920" y="7259955"/>
            <a:ext cx="67665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6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 datos maestros confiables, nada escala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88920" y="7818120"/>
            <a:ext cx="67665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Códigos y atributos de producto inconsistentes entre sistemas.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287000" y="2194560"/>
            <a:ext cx="6976872" cy="3611880"/>
            <a:chOff x="0" y="0"/>
            <a:chExt cx="9302496" cy="4815840"/>
          </a:xfrm>
        </p:grpSpPr>
        <p:sp>
          <p:nvSpPr>
            <p:cNvPr name="Freeform 33" id="33" descr="image22.jpeg"/>
            <p:cNvSpPr/>
            <p:nvPr/>
          </p:nvSpPr>
          <p:spPr>
            <a:xfrm flipH="false" flipV="false" rot="0">
              <a:off x="0" y="0"/>
              <a:ext cx="9302496" cy="4815840"/>
            </a:xfrm>
            <a:custGeom>
              <a:avLst/>
              <a:gdLst/>
              <a:ahLst/>
              <a:cxnLst/>
              <a:rect r="r" b="b" t="t" l="l"/>
              <a:pathLst>
                <a:path h="4815840" w="9302496">
                  <a:moveTo>
                    <a:pt x="0" y="0"/>
                  </a:moveTo>
                  <a:lnTo>
                    <a:pt x="9302496" y="0"/>
                  </a:lnTo>
                  <a:lnTo>
                    <a:pt x="9302496" y="4815840"/>
                  </a:lnTo>
                  <a:lnTo>
                    <a:pt x="0" y="481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388" r="0" b="-14388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287000" y="6035040"/>
            <a:ext cx="6976872" cy="3063240"/>
            <a:chOff x="0" y="0"/>
            <a:chExt cx="9302496" cy="4084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02496" cy="4084320"/>
            </a:xfrm>
            <a:custGeom>
              <a:avLst/>
              <a:gdLst/>
              <a:ahLst/>
              <a:cxnLst/>
              <a:rect r="r" b="b" t="t" l="l"/>
              <a:pathLst>
                <a:path h="4084320" w="9302496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8912352" y="0"/>
                  </a:lnTo>
                  <a:cubicBezTo>
                    <a:pt x="9127871" y="0"/>
                    <a:pt x="9302496" y="174625"/>
                    <a:pt x="9302496" y="390144"/>
                  </a:cubicBezTo>
                  <a:lnTo>
                    <a:pt x="9302496" y="3694176"/>
                  </a:lnTo>
                  <a:cubicBezTo>
                    <a:pt x="9302496" y="3909695"/>
                    <a:pt x="9127871" y="4084320"/>
                    <a:pt x="8912352" y="4084320"/>
                  </a:cubicBezTo>
                  <a:lnTo>
                    <a:pt x="390144" y="4084320"/>
                  </a:lnTo>
                  <a:cubicBezTo>
                    <a:pt x="174625" y="4084320"/>
                    <a:pt x="0" y="3909695"/>
                    <a:pt x="0" y="3694176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698480" y="6400800"/>
            <a:ext cx="777240" cy="777240"/>
            <a:chOff x="0" y="0"/>
            <a:chExt cx="1036320" cy="10363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36320" cy="1036320"/>
            </a:xfrm>
            <a:custGeom>
              <a:avLst/>
              <a:gdLst/>
              <a:ahLst/>
              <a:cxnLst/>
              <a:rect r="r" b="b" t="t" l="l"/>
              <a:pathLst>
                <a:path h="1036320" w="103632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cubicBezTo>
                    <a:pt x="804291" y="0"/>
                    <a:pt x="1036320" y="232029"/>
                    <a:pt x="1036320" y="518160"/>
                  </a:cubicBezTo>
                  <a:cubicBezTo>
                    <a:pt x="1036320" y="804291"/>
                    <a:pt x="804291" y="1036320"/>
                    <a:pt x="518160" y="1036320"/>
                  </a:cubicBez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0448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892790" y="6595110"/>
            <a:ext cx="388620" cy="388620"/>
            <a:chOff x="0" y="0"/>
            <a:chExt cx="518160" cy="518160"/>
          </a:xfrm>
        </p:grpSpPr>
        <p:sp>
          <p:nvSpPr>
            <p:cNvPr name="Freeform 39" id="39" descr="image-14-4.png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518160"/>
                  </a:lnTo>
                  <a:lnTo>
                    <a:pt x="0" y="51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704320" y="6510528"/>
            <a:ext cx="53035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-72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Siguiente entrega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98480" y="7406640"/>
            <a:ext cx="621792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spc="-51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Propuesta de arquitectura TO-BE basada en demand sensing, CPFR y PIM, a partir de los problemas y capacidades identificados.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1560" y="1069848"/>
            <a:ext cx="9125712" cy="2542032"/>
            <a:chOff x="0" y="0"/>
            <a:chExt cx="12167616" cy="3389376"/>
          </a:xfrm>
        </p:grpSpPr>
        <p:sp>
          <p:nvSpPr>
            <p:cNvPr name="Freeform 3" id="3" descr="image25.jpeg"/>
            <p:cNvSpPr/>
            <p:nvPr/>
          </p:nvSpPr>
          <p:spPr>
            <a:xfrm flipH="false" flipV="false" rot="0">
              <a:off x="0" y="0"/>
              <a:ext cx="12167616" cy="3389376"/>
            </a:xfrm>
            <a:custGeom>
              <a:avLst/>
              <a:gdLst/>
              <a:ahLst/>
              <a:cxnLst/>
              <a:rect r="r" b="b" t="t" l="l"/>
              <a:pathLst>
                <a:path h="3389376" w="12167616">
                  <a:moveTo>
                    <a:pt x="0" y="0"/>
                  </a:moveTo>
                  <a:lnTo>
                    <a:pt x="12167616" y="0"/>
                  </a:lnTo>
                  <a:lnTo>
                    <a:pt x="12167616" y="3389376"/>
                  </a:lnTo>
                  <a:lnTo>
                    <a:pt x="0" y="3389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9611" r="-1" b="-6961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6148" y="3976953"/>
            <a:ext cx="5118783" cy="1893950"/>
            <a:chOff x="0" y="0"/>
            <a:chExt cx="12192000" cy="4511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219200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1801856" y="0"/>
                  </a:lnTo>
                  <a:cubicBezTo>
                    <a:pt x="12017375" y="0"/>
                    <a:pt x="12192000" y="174625"/>
                    <a:pt x="12192000" y="390144"/>
                  </a:cubicBezTo>
                  <a:lnTo>
                    <a:pt x="12192000" y="4120896"/>
                  </a:lnTo>
                  <a:cubicBezTo>
                    <a:pt x="12192000" y="4336288"/>
                    <a:pt x="12017375" y="4511040"/>
                    <a:pt x="11801856" y="4511040"/>
                  </a:cubicBezTo>
                  <a:lnTo>
                    <a:pt x="390144" y="4511040"/>
                  </a:lnTo>
                  <a:cubicBezTo>
                    <a:pt x="174625" y="4511040"/>
                    <a:pt x="0" y="4336415"/>
                    <a:pt x="0" y="4120896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25060" y="4342713"/>
            <a:ext cx="3657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 spc="-72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¿Preguntas?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0778" y="4923928"/>
            <a:ext cx="4109522" cy="242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1959" spc="-58">
                <a:solidFill>
                  <a:srgbClr val="5E5E5E"/>
                </a:solidFill>
                <a:latin typeface="Open Sauce"/>
                <a:ea typeface="Open Sauce"/>
                <a:cs typeface="Open Sauce"/>
                <a:sym typeface="Open Sauce"/>
              </a:rPr>
              <a:t>Gracias por su atención. Quedamos atentos a sus comentarios.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6560820"/>
            <a:ext cx="9253787" cy="2235708"/>
            <a:chOff x="0" y="0"/>
            <a:chExt cx="12338383" cy="29809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38383" cy="2980944"/>
            </a:xfrm>
            <a:custGeom>
              <a:avLst/>
              <a:gdLst/>
              <a:ahLst/>
              <a:cxnLst/>
              <a:rect r="r" b="b" t="t" l="l"/>
              <a:pathLst>
                <a:path h="2980944" w="12338383">
                  <a:moveTo>
                    <a:pt x="0" y="0"/>
                  </a:moveTo>
                  <a:lnTo>
                    <a:pt x="12338383" y="0"/>
                  </a:lnTo>
                  <a:lnTo>
                    <a:pt x="12338383" y="2980944"/>
                  </a:lnTo>
                  <a:lnTo>
                    <a:pt x="0" y="2980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176" r="-10671" b="-383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338383" cy="299046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spc="-359">
                  <a:solidFill>
                    <a:srgbClr val="2B2B2B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Gracias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83696" y="2340864"/>
            <a:ext cx="5952744" cy="6922008"/>
            <a:chOff x="0" y="0"/>
            <a:chExt cx="7936992" cy="92293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36992" cy="9229344"/>
            </a:xfrm>
            <a:custGeom>
              <a:avLst/>
              <a:gdLst/>
              <a:ahLst/>
              <a:cxnLst/>
              <a:rect r="r" b="b" t="t" l="l"/>
              <a:pathLst>
                <a:path h="9229344" w="7936992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7546848" y="0"/>
                  </a:lnTo>
                  <a:cubicBezTo>
                    <a:pt x="7762240" y="0"/>
                    <a:pt x="7936992" y="174625"/>
                    <a:pt x="7936992" y="390144"/>
                  </a:cubicBezTo>
                  <a:lnTo>
                    <a:pt x="7936992" y="8839200"/>
                  </a:lnTo>
                  <a:cubicBezTo>
                    <a:pt x="7936992" y="9054592"/>
                    <a:pt x="7762367" y="9229344"/>
                    <a:pt x="7546848" y="9229344"/>
                  </a:cubicBezTo>
                  <a:lnTo>
                    <a:pt x="390144" y="9229344"/>
                  </a:lnTo>
                  <a:cubicBezTo>
                    <a:pt x="174625" y="9229344"/>
                    <a:pt x="0" y="9054719"/>
                    <a:pt x="0" y="8839200"/>
                  </a:cubicBezTo>
                  <a:close/>
                </a:path>
              </a:pathLst>
            </a:custGeom>
            <a:solidFill>
              <a:srgbClr val="DAFE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22608" y="2798064"/>
            <a:ext cx="5065776" cy="5998464"/>
            <a:chOff x="0" y="0"/>
            <a:chExt cx="6754368" cy="7997952"/>
          </a:xfrm>
        </p:grpSpPr>
        <p:sp>
          <p:nvSpPr>
            <p:cNvPr name="Freeform 14" id="14" descr="image34.jpeg"/>
            <p:cNvSpPr/>
            <p:nvPr/>
          </p:nvSpPr>
          <p:spPr>
            <a:xfrm flipH="false" flipV="false" rot="0">
              <a:off x="0" y="0"/>
              <a:ext cx="6754368" cy="7997952"/>
            </a:xfrm>
            <a:custGeom>
              <a:avLst/>
              <a:gdLst/>
              <a:ahLst/>
              <a:cxnLst/>
              <a:rect r="r" b="b" t="t" l="l"/>
              <a:pathLst>
                <a:path h="7997952" w="6754368">
                  <a:moveTo>
                    <a:pt x="0" y="0"/>
                  </a:moveTo>
                  <a:lnTo>
                    <a:pt x="6754368" y="0"/>
                  </a:lnTo>
                  <a:lnTo>
                    <a:pt x="6754368" y="7997952"/>
                  </a:lnTo>
                  <a:lnTo>
                    <a:pt x="0" y="7997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809" t="0" r="-38809" b="-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283696" y="1051560"/>
            <a:ext cx="466344" cy="466344"/>
            <a:chOff x="0" y="0"/>
            <a:chExt cx="621792" cy="621792"/>
          </a:xfrm>
        </p:grpSpPr>
        <p:sp>
          <p:nvSpPr>
            <p:cNvPr name="Freeform 16" id="16" descr="image6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819120" y="1033272"/>
            <a:ext cx="146304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-3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ALMACENES</a:t>
            </a:r>
          </a:p>
          <a:p>
            <a:pPr algn="l">
              <a:lnSpc>
                <a:spcPts val="1439"/>
              </a:lnSpc>
            </a:pPr>
            <a:r>
              <a:rPr lang="en-US" b="true" sz="1200" spc="-36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NOVA S.A.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DAHVwrBQySI</dc:identifier>
  <dcterms:modified xsi:type="dcterms:W3CDTF">2011-08-01T06:04:30Z</dcterms:modified>
  <cp:revision>1</cp:revision>
  <dc:title>Arquitectura Empresarial - G1</dc:title>
</cp:coreProperties>
</file>